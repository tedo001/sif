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one idea to land: SIF potential is high energy AND a failed barrier - not keyword matching, and not the severity that actually occurred. Everything else follows from that rule. The screenshot is our running prototype, not a mock-up.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Walk the seven stages left to right in one sentence each. Emphasise the green return line: expert decisions come back as labels, so the engine improves with use. If asked why not an LLM: auditability - every flag names the cues that produced 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Lead with the honest risk - no labelled SIF corpus exists anywhere - then the answer: the rules work from day one and the review queue manufactures the labels. Offline mode is what makes it deployable on a plant network.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Impact is a reallocation of attention, not a new headcount: the same HSE team spends its hours on the fifth of reports that carry fatal potential. Stress that no report is ever closed by the engine.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If challenged on novelty: commercial PSIF tools need a labelled corpus and return a score; we start with none and return the evidence. Offer the repository - the code, the tests and the operating manual are public.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number: OIL already collects the reports. The question is which of them could have killed someone. Team WellDrop; the engine is SENTRA.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10243B"/>
                </a:solidFill>
                <a:latin typeface="Calibri"/>
              </a:rPr>
              <a:t>SENTRA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Sense the Risk  ·  Stop the Incident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2514600"/>
            <a:ext cx="60350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0243B"/>
                </a:solidFill>
                <a:latin typeface="Calibri"/>
              </a:rPr>
              <a:t>Problem Statement ID – 26165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0243B"/>
                </a:solidFill>
                <a:latin typeface="Calibri"/>
              </a:rPr>
              <a:t>Problem Statement Title – AI/NLP Engine to Detect Serious Injury &amp; Fatality (SIF) Precursors in OIL's Unsafe-Act / Unsafe-Condition and Near-Miss Reports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0243B"/>
                </a:solidFill>
                <a:latin typeface="Calibri"/>
              </a:rPr>
              <a:t>Theme – Smart Automation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0243B"/>
                </a:solidFill>
                <a:latin typeface="Calibri"/>
              </a:rPr>
              <a:t>PS Category – Software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10243B"/>
                </a:solidFill>
                <a:latin typeface="Calibri"/>
              </a:rPr>
              <a:t>Team ID – ______________  (enter from the SIH portal)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243B"/>
                </a:solidFill>
                <a:latin typeface="Calibri"/>
              </a:rPr>
              <a:t>Team Name – WellDrop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A6B7C"/>
                </a:solidFill>
                <a:latin typeface="Calibri"/>
              </a:rPr>
              <a:t>Organisation – Oil India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WellDrop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225296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0243B"/>
                </a:solidFill>
                <a:latin typeface="Calibri"/>
              </a:rPr>
              <a:t>SENTRA reads every UA/UC and near-miss report and flags fatal potential — on the shift it is written.</a:t>
            </a:r>
          </a:p>
        </p:txBody>
      </p:sp>
      <p:pic>
        <p:nvPicPr>
          <p:cNvPr id="15363" name="Picture 15362" descr="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20"/>
            <a:ext cx="6720840" cy="162601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411480" y="3383280"/>
            <a:ext cx="6720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WHAT MAKES IT DIFFERENT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3639312"/>
            <a:ext cx="672084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521208" y="3749040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868680" y="3685032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Hybrid, not black box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safety rules + semantic transformer + XGBoost; the model may only add a flag, never overturn a rule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1480" y="4146804"/>
            <a:ext cx="672084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9" name="Oval 15368"/>
          <p:cNvSpPr/>
          <p:nvPr/>
        </p:nvSpPr>
        <p:spPr>
          <a:xfrm>
            <a:off x="521208" y="4256532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68680" y="4192524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Evidence on every flag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matched cues and decision path, so HSE audits the reasoning before acting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11480" y="4654296"/>
            <a:ext cx="672084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2" name="Oval 15371"/>
          <p:cNvSpPr/>
          <p:nvPr/>
        </p:nvSpPr>
        <p:spPr>
          <a:xfrm>
            <a:off x="521208" y="4764024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68680" y="4700016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Zero-shot rule mapping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9 IOGP Life-Saving Rules + 2 upstream categories, with no labelled data to start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11480" y="5161788"/>
            <a:ext cx="672084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5" name="Oval 15374"/>
          <p:cNvSpPr/>
          <p:nvPr/>
        </p:nvSpPr>
        <p:spPr>
          <a:xfrm>
            <a:off x="521208" y="5271516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868680" y="5207507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Runs offline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deterministic mode needs no model and no network: safe for plant/air-gapped sites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11480" y="5669279"/>
            <a:ext cx="672084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8" name="Oval 15377"/>
          <p:cNvSpPr/>
          <p:nvPr/>
        </p:nvSpPr>
        <p:spPr>
          <a:xfrm>
            <a:off x="521208" y="5779007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68680" y="5714999"/>
            <a:ext cx="6153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Human-in-the-loop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rule/model disagreement is queued for an expert, and that decision becomes a label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7406640" y="1645920"/>
            <a:ext cx="4389120" cy="1207008"/>
          </a:xfrm>
          <a:prstGeom prst="roundRect">
            <a:avLst>
              <a:gd name="adj" fmla="val 6000"/>
            </a:avLst>
          </a:prstGeom>
          <a:solidFill>
            <a:srgbClr val="FDF1F2"/>
          </a:solidFill>
          <a:ln w="9525">
            <a:solidFill>
              <a:srgbClr val="F2C7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7571231" y="1755648"/>
            <a:ext cx="40599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D7263D"/>
                </a:solidFill>
                <a:latin typeface="Calibri"/>
              </a:rPr>
              <a:t>THE GAP TODAY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Reports triaged by hand, monthly or quarterly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Injuries fell 51% in 15 years — fatalities only 25.5%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Low severity ≠ low fatal potential: ~20–25% of reports carry it</a:t>
            </a:r>
          </a:p>
        </p:txBody>
      </p:sp>
      <p:pic>
        <p:nvPicPr>
          <p:cNvPr id="15382" name="Picture 15381" descr="dash_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017520"/>
            <a:ext cx="4389120" cy="1689617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406640" y="47731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Working prototype — live dashboard, not a mock-up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7406640" y="5230368"/>
            <a:ext cx="1371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7406640" y="5303520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70C0"/>
                </a:solidFill>
                <a:latin typeface="Calibri"/>
              </a:rPr>
              <a:t>74</a:t>
            </a:r>
          </a:p>
          <a:p>
            <a:pPr algn="ctr"/>
            <a:r>
              <a:rPr sz="850">
                <a:solidFill>
                  <a:srgbClr val="5A6B7C"/>
                </a:solidFill>
                <a:latin typeface="Calibri"/>
              </a:rPr>
              <a:t>automated tests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8915400" y="5230368"/>
            <a:ext cx="1371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8915400" y="5303520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70C0"/>
                </a:solidFill>
                <a:latin typeface="Calibri"/>
              </a:rPr>
              <a:t>11</a:t>
            </a:r>
          </a:p>
          <a:p>
            <a:pPr algn="ctr"/>
            <a:r>
              <a:rPr sz="850">
                <a:solidFill>
                  <a:srgbClr val="5A6B7C"/>
                </a:solidFill>
                <a:latin typeface="Calibri"/>
              </a:rPr>
              <a:t>IOGP categories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10424160" y="5230368"/>
            <a:ext cx="1371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10424160" y="5303520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70C0"/>
                </a:solidFill>
                <a:latin typeface="Calibri"/>
              </a:rPr>
              <a:t>0</a:t>
            </a:r>
          </a:p>
          <a:p>
            <a:pPr algn="ctr"/>
            <a:r>
              <a:rPr sz="850">
                <a:solidFill>
                  <a:srgbClr val="5A6B7C"/>
                </a:solidFill>
                <a:latin typeface="Calibri"/>
              </a:rPr>
              <a:t>labelled rows to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WellDrop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70432"/>
            <a:ext cx="11384280" cy="2199674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352958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TECHNOLOGY STACK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380390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b="1" sz="1000">
                <a:solidFill>
                  <a:srgbClr val="0070C0"/>
                </a:solidFill>
                <a:latin typeface="Calibri"/>
              </a:rPr>
              <a:t>Language &amp; UI — </a:t>
            </a:r>
            <a:r>
              <a:rPr b="0" sz="950">
                <a:solidFill>
                  <a:srgbClr val="10243B"/>
                </a:solidFill>
                <a:latin typeface="Calibri"/>
              </a:rPr>
              <a:t>Python 3.11 · PyQt6 desktop console · QThread workers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420624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b="1" sz="1000">
                <a:solidFill>
                  <a:srgbClr val="0070C0"/>
                </a:solidFill>
                <a:latin typeface="Calibri"/>
              </a:rPr>
              <a:t>NLP — </a:t>
            </a:r>
            <a:r>
              <a:rPr b="0" sz="950">
                <a:solidFill>
                  <a:srgbClr val="10243B"/>
                </a:solidFill>
                <a:latin typeface="Calibri"/>
              </a:rPr>
              <a:t>sentence-transformers all-MiniLM-L6-v2 · rule + prototype knowledge base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1480" y="460857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b="1" sz="1000">
                <a:solidFill>
                  <a:srgbClr val="0070C0"/>
                </a:solidFill>
                <a:latin typeface="Calibri"/>
              </a:rPr>
              <a:t>ML / MLOps — </a:t>
            </a:r>
            <a:r>
              <a:rPr b="0" sz="950">
                <a:solidFill>
                  <a:srgbClr val="10243B"/>
                </a:solidFill>
                <a:latin typeface="Calibri"/>
              </a:rPr>
              <a:t>XGBoost · scikit-learn · MLflow experiment tracking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50109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b="1" sz="1000">
                <a:solidFill>
                  <a:srgbClr val="0070C0"/>
                </a:solidFill>
                <a:latin typeface="Calibri"/>
              </a:rPr>
              <a:t>Ingestion — </a:t>
            </a:r>
            <a:r>
              <a:rPr b="0" sz="950">
                <a:solidFill>
                  <a:srgbClr val="10243B"/>
                </a:solidFill>
                <a:latin typeface="Calibri"/>
              </a:rPr>
              <a:t>PaddleOCR · pypdfium2 PDF text layer · CSV importer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11480" y="541324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b="1" sz="1000">
                <a:solidFill>
                  <a:srgbClr val="0070C0"/>
                </a:solidFill>
                <a:latin typeface="Calibri"/>
              </a:rPr>
              <a:t>Engineering — </a:t>
            </a:r>
            <a:r>
              <a:rPr b="0" sz="950">
                <a:solidFill>
                  <a:srgbClr val="10243B"/>
                </a:solidFill>
                <a:latin typeface="Calibri"/>
              </a:rPr>
              <a:t>NumPy · unittest (74 tests) · Git / GitHub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3640" y="3529584"/>
            <a:ext cx="5532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METHODOLOGY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63640" y="3803904"/>
            <a:ext cx="553212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6373368" y="3913632"/>
            <a:ext cx="237744" cy="237744"/>
          </a:xfrm>
          <a:prstGeom prst="ellipse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720840" y="3849624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Rules first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auditable deterministic backbone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4306824"/>
            <a:ext cx="553212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6373368" y="4416552"/>
            <a:ext cx="237744" cy="237744"/>
          </a:xfrm>
          <a:prstGeom prst="ellipse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720840" y="4352544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Semantics second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zero-shot prototypes lift recall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63640" y="4809744"/>
            <a:ext cx="553212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6373368" y="4919472"/>
            <a:ext cx="237744" cy="237744"/>
          </a:xfrm>
          <a:prstGeom prst="ellipse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720840" y="4855464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Model third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XGBoost opinion, MLflow-tracked, never an override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263640" y="5312664"/>
            <a:ext cx="5532120" cy="4572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6373368" y="5422392"/>
            <a:ext cx="237744" cy="237744"/>
          </a:xfrm>
          <a:prstGeom prst="ellipse">
            <a:avLst/>
          </a:prstGeom>
          <a:solidFill>
            <a:srgbClr val="10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720840" y="5358383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b="1" sz="1050">
                <a:solidFill>
                  <a:srgbClr val="10243B"/>
                </a:solidFill>
                <a:latin typeface="Calibri"/>
              </a:rPr>
              <a:t>Loop closed —  </a:t>
            </a:r>
            <a:r>
              <a:rPr b="0" sz="950">
                <a:solidFill>
                  <a:srgbClr val="5A6B7C"/>
                </a:solidFill>
                <a:latin typeface="Calibri"/>
              </a:rPr>
              <a:t>expert review produces the labels for retraining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63640" y="579729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9525">
            <a:solidFill>
              <a:srgbClr val="BF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409944" y="58704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1E9E5A"/>
                </a:solidFill>
                <a:latin typeface="Calibri"/>
              </a:rPr>
              <a:t>Guardrail: </a:t>
            </a:r>
            <a:r>
              <a:rPr sz="950">
                <a:solidFill>
                  <a:srgbClr val="10243B"/>
                </a:solidFill>
                <a:latin typeface="Calibri"/>
              </a:rPr>
              <a:t>if an encoder scores every prototype alike, its ranking is ignored and the rules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WellDrop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E9E5A"/>
                </a:solidFill>
                <a:latin typeface="Calibri"/>
              </a:rPr>
              <a:t>WHY IT IS FEASIBLE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444752"/>
            <a:ext cx="397763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Laptop-class hardware — no GPU, no server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Offline mode needs no model and no network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Reads existing HSSE exports (CSV, PDF, scans) — crews keep reporting as they do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Open-source stack, deployed site by site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Already built and tested — 74 automated tests pass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2926080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3182112"/>
            <a:ext cx="397763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Low cost — open-source components, no per-seat licence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Return from HSE screening time saved and incidents prevented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One engine serves every asset; scales site by site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Improves with use — each expert decision becomes a label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0243B"/>
                </a:solidFill>
                <a:latin typeface="Calibri"/>
              </a:rPr>
              <a:t>•  Supports OIL's statutory reporting rather than replacing it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4681728"/>
            <a:ext cx="3977639" cy="1481328"/>
          </a:xfrm>
          <a:prstGeom prst="roundRect">
            <a:avLst>
              <a:gd name="adj" fmla="val 6000"/>
            </a:avLst>
          </a:prstGeom>
          <a:solidFill>
            <a:srgbClr val="ECF3FA"/>
          </a:solidFill>
          <a:ln w="9525">
            <a:solidFill>
              <a:srgbClr val="C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4791456"/>
            <a:ext cx="36667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Calibri"/>
              </a:rPr>
              <a:t>WHAT A PILOT LOOKS LIKE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Week 0 — point it at one asset's existing report export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Weeks 1–8 — HSE works the review queue; decisions become labels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Week 9 — first model trained on real labels, promoted only at the recall gate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09160" y="1188720"/>
            <a:ext cx="7086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E08A00"/>
                </a:solidFill>
                <a:latin typeface="Calibri"/>
              </a:rPr>
              <a:t>RISKS AND HOW WE HANDLE THEM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709160" y="1481328"/>
            <a:ext cx="7086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4837176" y="1719072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184648" y="1563624"/>
            <a:ext cx="6464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No labelled SIF corpus exists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A6B7C"/>
                </a:solidFill>
                <a:latin typeface="Calibri"/>
              </a:rPr>
              <a:t>Start rule-driven; review queue produces labels; promote a model only at ≥200 labels and recall ≥0.80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709160" y="2263140"/>
            <a:ext cx="7086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4837176" y="2500884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184648" y="2345436"/>
            <a:ext cx="6464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A missed precursor (false negative)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A6B7C"/>
                </a:solidFill>
                <a:latin typeface="Calibri"/>
              </a:rPr>
              <a:t>Semantic layer may only add flags; rules are never overridden; recall-first acceptance gate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709160" y="3044952"/>
            <a:ext cx="7086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4837176" y="3282696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184648" y="3127248"/>
            <a:ext cx="6464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Plant networks are air-gapped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A6B7C"/>
                </a:solidFill>
                <a:latin typeface="Calibri"/>
              </a:rPr>
              <a:t>Pre-fetch the encoder and OCR models; full offline lexical mode as fallback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709160" y="3826764"/>
            <a:ext cx="7086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4837176" y="4064508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184648" y="3909060"/>
            <a:ext cx="6464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Small samples skew site rankings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A6B7C"/>
                </a:solidFill>
                <a:latin typeface="Calibri"/>
              </a:rPr>
              <a:t>Density ranked by Wilson lower bound — 2-of-2 cannot outrank 20-of-30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709160" y="4608576"/>
            <a:ext cx="7086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4837176" y="4846320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184648" y="4690872"/>
            <a:ext cx="6464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Scanned and handwritten reports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A6B7C"/>
                </a:solidFill>
                <a:latin typeface="Calibri"/>
              </a:rPr>
              <a:t>PDF text layer first, PaddleOCR for scans, per-line confidence routed to review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709160" y="5390388"/>
            <a:ext cx="7086600" cy="7132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4837176" y="5628132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184648" y="5472684"/>
            <a:ext cx="6464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Model drift after go-live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A6B7C"/>
                </a:solidFill>
                <a:latin typeface="Calibri"/>
              </a:rPr>
              <a:t>MLflow run history plus monitored KPIs: agreement %, unclassified share, queue age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WellDrop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188720"/>
            <a:ext cx="2761488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57784" y="12801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D7263D"/>
                </a:solidFill>
                <a:latin typeface="Calibri"/>
              </a:rPr>
              <a:t>Monthly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manual triage today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00984" y="1188720"/>
            <a:ext cx="2761488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47288" y="12801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1E9E5A"/>
                </a:solidFill>
                <a:latin typeface="Calibri"/>
              </a:rPr>
              <a:t>Same shift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with SENTRA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0488" y="1188720"/>
            <a:ext cx="2761488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336792" y="12801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0070C0"/>
                </a:solidFill>
                <a:latin typeface="Calibri"/>
              </a:rPr>
              <a:t>20–25%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of reports hold the fatal potential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079992" y="1188720"/>
            <a:ext cx="2761488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9226296" y="12801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10243B"/>
                </a:solidFill>
                <a:latin typeface="Calibri"/>
              </a:rPr>
              <a:t>Every flag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carries its evidence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1480" y="2176272"/>
            <a:ext cx="11384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WHO BENEFITS, AND HOW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2487168"/>
            <a:ext cx="3703320" cy="181051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576072" y="2615184"/>
            <a:ext cx="33832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HSE teams &amp; asset owners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Screening effort moves from every report to the ones that can kill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Sites and activities ranked by precursor density, not by report volume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Recurring failed barriers named — fix the control, not the incident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88536" y="2487168"/>
            <a:ext cx="3703320" cy="181051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453128" y="2615184"/>
            <a:ext cx="33832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E9E5A"/>
                </a:solidFill>
                <a:latin typeface="Calibri"/>
              </a:rPr>
              <a:t>Workers &amp; contractors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Exposure removed before the event, not investigated after it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Reporting visibly acted on, which strengthens reporting culture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Same protection for contractor crews, who carry much of the field risk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165592" y="2487168"/>
            <a:ext cx="3703320" cy="181051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330183" y="2615184"/>
            <a:ext cx="33832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08A00"/>
                </a:solidFill>
                <a:latin typeface="Calibri"/>
              </a:rPr>
              <a:t>Economic, social &amp; environmental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Avoided incident cost, downtime and emergency response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Audit-ready evidence trail for regulators and internal review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10243B"/>
                </a:solidFill>
                <a:latin typeface="Calibri"/>
              </a:rPr>
              <a:t>•  Paperless triage; less duplicated manual review each cycle</a:t>
            </a:r>
          </a:p>
        </p:txBody>
      </p:sp>
      <p:pic>
        <p:nvPicPr>
          <p:cNvPr id="17425" name="Picture 17424" descr="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462272"/>
            <a:ext cx="5760720" cy="170941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446520" y="4517136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10243B"/>
                </a:solidFill>
                <a:latin typeface="Calibri"/>
              </a:rPr>
              <a:t>THE HUMAN STAYS IN CHARGE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Disagreements, critical risk and thin evidence are queued with the reason attached. No report is closed, downgraded or escalated by the engine.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1E9E5A"/>
                </a:solidFill>
                <a:latin typeface="Calibri"/>
              </a:rPr>
              <a:t>Each expert decision returns as a training label.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WellDrop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8872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PEER-REVIEWED RESEARCH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4475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39496" y="1719072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86968" y="1545336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Parikh et al. (2024), Scientific Reports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5A6B7C"/>
                </a:solidFill>
                <a:latin typeface="Calibri"/>
              </a:rPr>
              <a:t>Automatic identification of incidents involving potential serious injuries and fatalities — Transformer + XGBoost, recall-first.  nature.com/articles/s41598-024-58824-y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2304288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539496" y="2578608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86968" y="2404872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Ganguli et al. (2021), Minerals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5A6B7C"/>
                </a:solidFill>
                <a:latin typeface="Calibri"/>
              </a:rPr>
              <a:t>NLP-based machine learning on mine incident narratives.  mdpi.com/2075-163X/11/7/776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3163824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39496" y="3438144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86968" y="3264408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Chang &amp; Martinez (2024), Process Safety and Environmental Protection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5A6B7C"/>
                </a:solidFill>
                <a:latin typeface="Calibri"/>
              </a:rPr>
              <a:t>NLP for spill reduction in an E&amp;P company — causes and contributing factors.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402336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5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539496" y="4297680"/>
            <a:ext cx="237744" cy="23774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86968" y="4123944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0243B"/>
                </a:solidFill>
                <a:latin typeface="Calibri"/>
              </a:rPr>
              <a:t>Wang &amp; Wang (2026), J. Loss Prevention in the Process Industries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5A6B7C"/>
                </a:solidFill>
                <a:latin typeface="Calibri"/>
              </a:rPr>
              <a:t>Bow-tie grounded sentence-level annotation for interpretable incident analysis.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11480" y="4846320"/>
            <a:ext cx="6766560" cy="12984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9525">
            <a:solidFill>
              <a:srgbClr val="BF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66928" y="4956048"/>
            <a:ext cx="64556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1E9E5A"/>
                </a:solidFill>
                <a:latin typeface="Calibri"/>
              </a:rPr>
              <a:t>HOW THE RESEARCH SHAPED SENTRA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[1] recall-first evaluation and the transformer + XGBoost pairing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[2][3] evidence that NLP generalises across mining and E&amp;P narratives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[4] barrier-level annotation — why we classify on energy and barrier, not keywords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452360" y="118872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STANDARDS &amp; INDUSTRY MODELS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452360" y="1444752"/>
            <a:ext cx="4343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IOGP Life-Saving Rules (2018) — the 9-rule taxonomy we map to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EEI SIF precursor model — energy + failed barrier logic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DEKRA, Martin &amp; Black (2015) — SIF potential vs actual severity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VelocityEHS PSIF classifier (2024) — commercial benchmark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452360" y="278892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70C0"/>
                </a:solidFill>
                <a:latin typeface="Calibri"/>
              </a:rPr>
              <a:t>HOW WE DIFFER FROM EXISTING TOOLS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452360" y="3044952"/>
            <a:ext cx="4343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Commercial PSIF tools need a large labelled corpus; SENTRA starts with none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Most classifiers output a score; SENTRA outputs the cues and the decision path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Built for the plant — full offline mode, no cloud dependency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•  Ranks by precursor density, so a small busy site is not hidden by a large one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452360" y="5074920"/>
            <a:ext cx="4343400" cy="868680"/>
          </a:xfrm>
          <a:prstGeom prst="roundRect">
            <a:avLst>
              <a:gd name="adj" fmla="val 6000"/>
            </a:avLst>
          </a:prstGeom>
          <a:solidFill>
            <a:srgbClr val="ECF3FA"/>
          </a:solidFill>
          <a:ln w="9525">
            <a:solidFill>
              <a:srgbClr val="C3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7616952" y="5193792"/>
            <a:ext cx="4014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70C0"/>
                </a:solidFill>
                <a:latin typeface="Calibri"/>
              </a:rPr>
              <a:t>PROTOTYPE SOURCE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10243B"/>
                </a:solidFill>
                <a:latin typeface="Calibri"/>
              </a:rPr>
              <a:t>github.com/tedo001/SIF — working code, 74 automated tests, operating manual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