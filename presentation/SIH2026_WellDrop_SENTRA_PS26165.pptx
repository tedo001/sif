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 autoCompressPictures="0">
  <p:sldMasterIdLst>
    <p:sldMasterId id="2147483648" r:id="rId1"/>
  </p:sldMasterIdLst>
  <p:notesMasterIdLst>
    <p:notesMasterId r:id="rId9"/>
  </p:notesMasterIdLst>
  <p:sldIdLst>
    <p:sldId id="291" r:id="rId2"/>
    <p:sldId id="281" r:id="rId3"/>
    <p:sldId id="290" r:id="rId4"/>
    <p:sldId id="293" r:id="rId5"/>
    <p:sldId id="294" r:id="rId6"/>
    <p:sldId id="296" r:id="rId7"/>
  </p:sldIdLst>
  <p:sldSz cx="12192000" cy="6858000"/>
  <p:notesSz cx="6858000" cy="9144000"/>
  <p:defaultTextStyle>
    <a:defPPr>
      <a:defRPr lang="en-US"/>
    </a:defPPr>
    <a:lvl1pPr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1pPr>
    <a:lvl2pPr marL="4572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2pPr>
    <a:lvl3pPr marL="9144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3pPr>
    <a:lvl4pPr marL="13716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4pPr>
    <a:lvl5pPr marL="1828800" algn="l" defTabSz="457200" rtl="0" fontAlgn="base">
      <a:spcBef>
        <a:spcPct val="0"/>
      </a:spcBef>
      <a:spcAft>
        <a:spcPct val="0"/>
      </a:spcAft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5pPr>
    <a:lvl6pPr marL="22860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6pPr>
    <a:lvl7pPr marL="27432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7pPr>
    <a:lvl8pPr marL="32004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8pPr>
    <a:lvl9pPr marL="3657600" algn="l" defTabSz="914400" rtl="0" eaLnBrk="1" latinLnBrk="0" hangingPunct="1">
      <a:defRPr kern="1200">
        <a:solidFill>
          <a:schemeClr val="tx1"/>
        </a:solidFill>
        <a:latin typeface="Calibri" pitchFamily="34" charset="0"/>
        <a:ea typeface="ＭＳ Ｐゴシック" pitchFamily="1" charset="-128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9BBB59"/>
    <a:srgbClr val="39B0D4"/>
    <a:srgbClr val="727272"/>
    <a:srgbClr val="010000"/>
    <a:srgbClr val="FFA751"/>
    <a:srgbClr val="323232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68" d="100"/>
          <a:sy n="68" d="100"/>
        </p:scale>
        <p:origin x="792" y="72"/>
      </p:cViewPr>
      <p:guideLst>
        <p:guide orient="horz" pos="2160"/>
        <p:guide pos="3840"/>
      </p:guideLst>
    </p:cSldViewPr>
  </p:slid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25" d="100"/>
        <a:sy n="125" d="100"/>
      </p:scale>
      <p:origin x="0" y="0"/>
    </p:cViewPr>
  </p:sorter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9" Type="http://schemas.openxmlformats.org/officeDocument/2006/relationships/notesMaster" Target="notesMasters/notesMaster1.xml"/><Relationship Id="rId10" Type="http://schemas.openxmlformats.org/officeDocument/2006/relationships/presProps" Target="presProps.xml"/><Relationship Id="rId11" Type="http://schemas.openxmlformats.org/officeDocument/2006/relationships/viewProps" Target="viewProps.xml"/><Relationship Id="rId12" Type="http://schemas.openxmlformats.org/officeDocument/2006/relationships/theme" Target="theme/theme1.xml"/><Relationship Id="rId13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C4D5ADD5-2BBC-4A94-8F86-D9013941F742}" type="datetimeFigureOut">
              <a:rPr lang="en-US"/>
              <a:pPr/>
              <a:t>6/2/2026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en-US" noProof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noProof="0"/>
              <a:t>Click to edit Master text styles</a:t>
            </a:r>
          </a:p>
          <a:p>
            <a:pPr lvl="1"/>
            <a:r>
              <a:rPr lang="en-US" noProof="0"/>
              <a:t>Second level</a:t>
            </a:r>
          </a:p>
          <a:p>
            <a:pPr lvl="2"/>
            <a:r>
              <a:rPr lang="en-US" noProof="0"/>
              <a:t>Third level</a:t>
            </a:r>
          </a:p>
          <a:p>
            <a:pPr lvl="3"/>
            <a:r>
              <a:rPr lang="en-US" noProof="0"/>
              <a:t>Fourth level</a:t>
            </a:r>
          </a:p>
          <a:p>
            <a:pPr lvl="4"/>
            <a:r>
              <a:rPr lang="en-US" noProof="0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sz="1200">
                <a:latin typeface="+mn-lt"/>
                <a:ea typeface="+mn-ea"/>
                <a:cs typeface="+mn-cs"/>
              </a:defRPr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wrap="square" lIns="91440" tIns="45720" rIns="91440" bIns="45720" numCol="1" anchor="b" anchorCtr="0" compatLnSpc="1">
            <a:prstTxWarp prst="textNoShape">
              <a:avLst/>
            </a:prstTxWarp>
          </a:bodyPr>
          <a:lstStyle>
            <a:lvl1pPr algn="r">
              <a:defRPr sz="1200"/>
            </a:lvl1pPr>
          </a:lstStyle>
          <a:p>
            <a:fld id="{EC790738-CFC9-4A5E-8424-6B42AA5706F7}" type="slidenum">
              <a:rPr lang="en-US"/>
              <a:pPr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5749454"/>
      </p:ext>
    </p:extLst>
  </p:cSld>
  <p:clrMap bg1="lt1" tx1="dk1" bg2="lt2" tx2="dk2" accent1="accent1" accent2="accent2" accent3="accent3" accent4="accent4" accent5="accent5" accent6="accent6" hlink="hlink" folHlink="folHlink"/>
  <p:notesStyle>
    <a:lvl1pPr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ＭＳ Ｐゴシック" charset="0"/>
      </a:defRPr>
    </a:lvl1pPr>
    <a:lvl2pPr marL="4572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2pPr>
    <a:lvl3pPr marL="9144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3pPr>
    <a:lvl4pPr marL="13716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4pPr>
    <a:lvl5pPr marL="1828800" algn="l" defTabSz="457200" rtl="0" eaLnBrk="0" fontAlgn="base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ＭＳ Ｐゴシック" charset="0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385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6386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The one idea to land: SIF potential is high energy AND a failed barrier - not keyword matching, and not the severity that actually occurred. Everything else follows from that rule. The screenshot is our running prototype, not a mock-up.</a:t>
            </a:r>
          </a:p>
        </p:txBody>
      </p:sp>
      <p:sp>
        <p:nvSpPr>
          <p:cNvPr id="16387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65F62A7E-A2F8-438F-9CF8-47DE63F471B4}" type="slidenum">
              <a:rPr lang="en-US"/>
              <a:pPr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4073229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Walk the seven stages left to right in one sentence each. Emphasise the green return line: expert decisions come back as labels, so the engine improves with use. If asked why not an LLM: auditability - every flag names the cues that produced it.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fld id="{0CA7B74D-3791-4AC6-8451-F10DBCCCDD9A}" type="slidenum">
              <a:rPr lang="en-US"/>
              <a:pPr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335206292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Lead with the honest risk - no labelled SIF corpus exists anywhere - then the answer: the rules work from day one and the review queue manufactures the labels. Offline mode is what makes it deployable on a plant network.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77350546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Impact is a reallocation of attention, not a new headcount: the same HSE team spends its hours on the fifth of reports that carry fatal potential. Stress that no report is ever closed by the engine.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641722845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33" name="Slide Image Placeholder 1"/>
          <p:cNvSpPr>
            <a:spLocks noGrp="1" noRot="1" noChangeAspect="1"/>
          </p:cNvSpPr>
          <p:nvPr>
            <p:ph type="sldImg"/>
          </p:nvPr>
        </p:nvSpPr>
        <p:spPr bwMode="auto">
          <a:xfrm>
            <a:off x="381000" y="685800"/>
            <a:ext cx="6096000" cy="3429000"/>
          </a:xfrm>
          <a:noFill/>
          <a:ln>
            <a:solidFill>
              <a:srgbClr val="000000"/>
            </a:solidFill>
            <a:miter lim="800000"/>
            <a:headEnd/>
            <a:tailEnd/>
          </a:ln>
        </p:spPr>
      </p:sp>
      <p:sp>
        <p:nvSpPr>
          <p:cNvPr id="18434" name="Notes Placeholder 2"/>
          <p:cNvSpPr>
            <a:spLocks noGrp="1"/>
          </p:cNvSpPr>
          <p:nvPr>
            <p:ph type="body" idx="1"/>
          </p:nvPr>
        </p:nvSpPr>
        <p:spPr bwMode="auto">
          <a:noFill/>
        </p:spPr>
        <p:txBody>
          <a:bodyPr wrap="square" numCol="1" anchor="t" anchorCtr="0" compatLnSpc="1">
            <a:prstTxWarp prst="textNoShape">
              <a:avLst/>
            </a:prstTxWarp>
          </a:bodyPr>
          <a:lstStyle/>
          <a:p>
            <a:r>
              <a:t>If challenged on novelty: commercial PSIF tools need a labelled corpus and return a score; we start with none and return the evidence. Offer the repository - the code, the tests and the operating manual are public.</a:t>
            </a:r>
          </a:p>
        </p:txBody>
      </p:sp>
      <p:sp>
        <p:nvSpPr>
          <p:cNvPr id="18435" name="Slide Number Placeholder 3"/>
          <p:cNvSpPr>
            <a:spLocks noGrp="1"/>
          </p:cNvSpPr>
          <p:nvPr>
            <p:ph type="sldNum" sz="quarter" idx="5"/>
          </p:nvPr>
        </p:nvSpPr>
        <p:spPr bwMode="auto">
          <a:noFill/>
          <a:ln>
            <a:miter lim="800000"/>
            <a:headEnd/>
            <a:tailEnd/>
          </a:ln>
        </p:spPr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0CA7B74D-3791-4AC6-8451-F10DBCCCDD9A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itchFamily="34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itchFamily="34" charset="0"/>
              <a:ea typeface="ＭＳ Ｐゴシック" pitchFamily="1" charset="-128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08672725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Open with the number: OIL already collects the reports. The question is which of them could have killed someone. Team WellDrop; the engine is SENTRA.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914400" y="2130428"/>
            <a:ext cx="103632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828800" y="3886200"/>
            <a:ext cx="85344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60792E3-D524-454C-8AFD-A91972900BCB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5B7E1BAA-A38D-40DE-B22C-DF9BD7D8205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708B7524-32A2-4C20-A58C-BC3BAA1042FC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77C3CE7-23F7-4828-823C-E0205DF2CF9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963084" y="4406903"/>
            <a:ext cx="103632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963084" y="2906713"/>
            <a:ext cx="103632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1E994447-D6B2-43BB-A877-57F1A267B99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41DB31D2-2A87-4F4C-A9AD-05C6CC2B321D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09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97600" y="1600203"/>
            <a:ext cx="53848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68920E16-BD35-483C-AA6B-346FC7E46DEA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E1FC16D9-1635-4844-816A-0A8A2160FADA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09600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09600" y="2174875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6193369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6193369" y="2174875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EAC6F8-5103-4FC0-A69E-5C6AE6469DA8}" type="datetime1">
              <a:rPr lang="en-US" smtClean="0"/>
              <a:t>6/2/2026</a:t>
            </a:fld>
            <a:endParaRPr lang="en-US"/>
          </a:p>
        </p:txBody>
      </p:sp>
      <p:sp>
        <p:nvSpPr>
          <p:cNvPr id="8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9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71C4100A-98DE-4944-910A-A93F5CA9F724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60C6921-0627-4C8F-83D5-0CF936D2FFDD}" type="datetime1">
              <a:rPr lang="en-US" smtClean="0"/>
              <a:t>6/2/2026</a:t>
            </a:fld>
            <a:endParaRPr lang="en-US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5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6A63342B-5A73-45DC-864D-086DE78037EF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2FF08AD7-8103-40F8-983C-E2BA6BB9CBE0}" type="datetime1">
              <a:rPr lang="en-US" smtClean="0"/>
              <a:t>6/2/2026</a:t>
            </a:fld>
            <a:endParaRPr lang="en-US"/>
          </a:p>
        </p:txBody>
      </p:sp>
      <p:sp>
        <p:nvSpPr>
          <p:cNvPr id="3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4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B635AFB3-1ACD-44AC-8702-86B1729DF03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09602" y="273050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66733" y="273053"/>
            <a:ext cx="6815667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09602" y="1435103"/>
            <a:ext cx="4011084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DF8C06B4-9380-4A4D-AF49-A3596E17DAF5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05CF15F3-5E77-4C57-9E21-50D6D1D6C022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389717" y="4800600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2389717" y="612775"/>
            <a:ext cx="7315200" cy="4114800"/>
          </a:xfrm>
        </p:spPr>
        <p:txBody>
          <a:bodyPr rtlCol="0">
            <a:normAutofit/>
          </a:bodyPr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en-US" noProof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EF7FDEF1-C582-4E22-9E77-D68326471F28}" type="datetime1">
              <a:rPr lang="en-US" smtClean="0"/>
              <a:t>6/2/2026</a:t>
            </a:fld>
            <a:endParaRPr lang="en-US"/>
          </a:p>
        </p:txBody>
      </p:sp>
      <p:sp>
        <p:nvSpPr>
          <p:cNvPr id="6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7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1242169A-B3C7-4FB6-967F-AF95F4EB3315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053C3A68-6922-42D3-8905-ECC2D82A3469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94FDD027-5576-4F27-AAB6-1D994836EE78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839200" y="274641"/>
            <a:ext cx="27432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09600" y="274641"/>
            <a:ext cx="80264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/>
            </a:lvl1pPr>
          </a:lstStyle>
          <a:p>
            <a:fld id="{CB69E9F4-7604-4950-A8B2-8ACDEDB1506E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fld id="{2957CE61-8714-431B-A40A-01B1C5541AB7}" type="slidenum">
              <a:rPr lang="en-US"/>
              <a:pPr/>
              <a:t>‹#›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6" name="Title Placeholder 1"/>
          <p:cNvSpPr>
            <a:spLocks noGrp="1"/>
          </p:cNvSpPr>
          <p:nvPr>
            <p:ph type="title"/>
          </p:nvPr>
        </p:nvSpPr>
        <p:spPr bwMode="auto">
          <a:xfrm>
            <a:off x="609600" y="-47625"/>
            <a:ext cx="10972800" cy="11430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1027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600" y="1095375"/>
            <a:ext cx="10972800" cy="50307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vert="horz" wrap="square" lIns="91440" tIns="45720" rIns="91440" bIns="45720" numCol="1" anchor="t" anchorCtr="0" compatLnSpc="1">
            <a:prstTxWarp prst="textNoShape">
              <a:avLst/>
            </a:prstTxWarp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09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780A9602-A9A9-453F-AEF1-37B5837E02CD}" type="datetime1">
              <a:rPr lang="en-US" smtClean="0"/>
              <a:t>6/2/2026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4165600" y="6356353"/>
            <a:ext cx="3860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sz="1200">
                <a:solidFill>
                  <a:schemeClr val="tx1">
                    <a:tint val="75000"/>
                  </a:schemeClr>
                </a:solidFill>
                <a:latin typeface="TradeGothic"/>
                <a:ea typeface="+mn-ea"/>
                <a:cs typeface="+mn-cs"/>
              </a:defRPr>
            </a:lvl1pPr>
          </a:lstStyle>
          <a:p>
            <a:pPr>
              <a:defRPr/>
            </a:pPr>
            <a:r>
              <a:rPr lang="en-US"/>
              <a:t>@SIH Idea submission- Template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8737600" y="6356353"/>
            <a:ext cx="2844800" cy="365125"/>
          </a:xfrm>
          <a:prstGeom prst="rect">
            <a:avLst/>
          </a:prstGeom>
        </p:spPr>
        <p:txBody>
          <a:bodyPr vert="horz" wrap="square" lIns="91440" tIns="45720" rIns="91440" bIns="45720" numCol="1" anchor="ctr" anchorCtr="0" compatLnSpc="1">
            <a:prstTxWarp prst="textNoShape">
              <a:avLst/>
            </a:prstTxWarp>
          </a:bodyPr>
          <a:lstStyle>
            <a:lvl1pPr algn="r">
              <a:defRPr sz="1200">
                <a:solidFill>
                  <a:srgbClr val="898989"/>
                </a:solidFill>
                <a:latin typeface="TradeGothic" pitchFamily="1" charset="0"/>
              </a:defRPr>
            </a:lvl1pPr>
          </a:lstStyle>
          <a:p>
            <a:fld id="{1411BA53-830D-4830-BB65-E58DBE17D0B7}" type="slidenum">
              <a:rPr lang="en-US"/>
              <a:pPr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dt="0"/>
  <p:txStyles>
    <p:titleStyle>
      <a:lvl1pPr algn="ctr" defTabSz="457200" rtl="0" eaLnBrk="0" fontAlgn="base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2pPr>
      <a:lvl3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3pPr>
      <a:lvl4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4pPr>
      <a:lvl5pPr algn="ctr" defTabSz="457200" rtl="0" eaLnBrk="0" fontAlgn="base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5pPr>
      <a:lvl6pPr marL="4572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6pPr>
      <a:lvl7pPr marL="9144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7pPr>
      <a:lvl8pPr marL="13716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8pPr>
      <a:lvl9pPr marL="1828800" algn="ctr" defTabSz="457200" rtl="0" fontAlgn="base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TradeGothic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3200" kern="1200">
          <a:solidFill>
            <a:schemeClr val="tx1"/>
          </a:solidFill>
          <a:latin typeface="TradeGothic"/>
          <a:ea typeface="ＭＳ Ｐゴシック" charset="0"/>
          <a:cs typeface="ＭＳ Ｐゴシック" charset="0"/>
        </a:defRPr>
      </a:lvl1pPr>
      <a:lvl2pPr marL="742950" indent="-28575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8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2pPr>
      <a:lvl3pPr marL="11430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•"/>
        <a:defRPr sz="24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3pPr>
      <a:lvl4pPr marL="16002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–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4pPr>
      <a:lvl5pPr marL="2057400" indent="-228600" algn="l" defTabSz="457200" rtl="0" eaLnBrk="0" fontAlgn="base" hangingPunct="0">
        <a:spcBef>
          <a:spcPct val="20000"/>
        </a:spcBef>
        <a:spcAft>
          <a:spcPct val="0"/>
        </a:spcAft>
        <a:buFont typeface="Arial" pitchFamily="34" charset="0"/>
        <a:buChar char="»"/>
        <a:defRPr sz="2000" kern="1200">
          <a:solidFill>
            <a:schemeClr val="tx1"/>
          </a:solidFill>
          <a:latin typeface="TradeGothic"/>
          <a:ea typeface="ＭＳ Ｐゴシック" charset="0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notesSlide" Target="../notesSlides/notesSlide6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6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36" name="Rectangle 24">
            <a:extLst>
              <a:ext uri="{FF2B5EF4-FFF2-40B4-BE49-F238E27FC236}">
                <a16:creationId xmlns:a16="http://schemas.microsoft.com/office/drawing/2014/main" id="{3E443FD7-A66B-4AA0-872D-B088B9BC5F1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1524000" y="0"/>
            <a:ext cx="9144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37" name="Freeform: Shape 26">
            <a:extLst>
              <a:ext uri="{FF2B5EF4-FFF2-40B4-BE49-F238E27FC236}">
                <a16:creationId xmlns:a16="http://schemas.microsoft.com/office/drawing/2014/main" id="{C04BE0EF-3561-49B4-9A29-F283168A91C7}"/>
              </a:ext>
              <a:ext uri="{C183D7F6-B498-43B3-948B-1728B52AA6E4}">
                <adec:decorative xmlns:adec="http://schemas.microsoft.com/office/drawing/2017/decorative" xmlns="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5656780" y="851521"/>
            <a:ext cx="4638605" cy="5154967"/>
          </a:xfrm>
          <a:custGeom>
            <a:avLst/>
            <a:gdLst>
              <a:gd name="connsiteX0" fmla="*/ 363179 w 6184806"/>
              <a:gd name="connsiteY0" fmla="*/ 3125191 h 5154967"/>
              <a:gd name="connsiteX1" fmla="*/ 898270 w 6184806"/>
              <a:gd name="connsiteY1" fmla="*/ 3125191 h 5154967"/>
              <a:gd name="connsiteX2" fmla="*/ 980326 w 6184806"/>
              <a:gd name="connsiteY2" fmla="*/ 3173551 h 5154967"/>
              <a:gd name="connsiteX3" fmla="*/ 1248448 w 6184806"/>
              <a:gd name="connsiteY3" fmla="*/ 3635277 h 5154967"/>
              <a:gd name="connsiteX4" fmla="*/ 1248448 w 6184806"/>
              <a:gd name="connsiteY4" fmla="*/ 3729695 h 5154967"/>
              <a:gd name="connsiteX5" fmla="*/ 980326 w 6184806"/>
              <a:gd name="connsiteY5" fmla="*/ 4191421 h 5154967"/>
              <a:gd name="connsiteX6" fmla="*/ 898270 w 6184806"/>
              <a:gd name="connsiteY6" fmla="*/ 4239781 h 5154967"/>
              <a:gd name="connsiteX7" fmla="*/ 363179 w 6184806"/>
              <a:gd name="connsiteY7" fmla="*/ 4239781 h 5154967"/>
              <a:gd name="connsiteX8" fmla="*/ 279969 w 6184806"/>
              <a:gd name="connsiteY8" fmla="*/ 4191421 h 5154967"/>
              <a:gd name="connsiteX9" fmla="*/ 13002 w 6184806"/>
              <a:gd name="connsiteY9" fmla="*/ 3729695 h 5154967"/>
              <a:gd name="connsiteX10" fmla="*/ 13002 w 6184806"/>
              <a:gd name="connsiteY10" fmla="*/ 3635277 h 5154967"/>
              <a:gd name="connsiteX11" fmla="*/ 279969 w 6184806"/>
              <a:gd name="connsiteY11" fmla="*/ 3173551 h 5154967"/>
              <a:gd name="connsiteX12" fmla="*/ 363179 w 6184806"/>
              <a:gd name="connsiteY12" fmla="*/ 3125191 h 5154967"/>
              <a:gd name="connsiteX13" fmla="*/ 2489721 w 6184806"/>
              <a:gd name="connsiteY13" fmla="*/ 570035 h 5154967"/>
              <a:gd name="connsiteX14" fmla="*/ 2764862 w 6184806"/>
              <a:gd name="connsiteY14" fmla="*/ 570035 h 5154967"/>
              <a:gd name="connsiteX15" fmla="*/ 2796959 w 6184806"/>
              <a:gd name="connsiteY15" fmla="*/ 570035 h 5154967"/>
              <a:gd name="connsiteX16" fmla="*/ 2827587 w 6184806"/>
              <a:gd name="connsiteY16" fmla="*/ 622777 h 5154967"/>
              <a:gd name="connsiteX17" fmla="*/ 2977604 w 6184806"/>
              <a:gd name="connsiteY17" fmla="*/ 881117 h 5154967"/>
              <a:gd name="connsiteX18" fmla="*/ 2977604 w 6184806"/>
              <a:gd name="connsiteY18" fmla="*/ 1025720 h 5154967"/>
              <a:gd name="connsiteX19" fmla="*/ 2566968 w 6184806"/>
              <a:gd name="connsiteY19" fmla="*/ 1732863 h 5154967"/>
              <a:gd name="connsiteX20" fmla="*/ 2441299 w 6184806"/>
              <a:gd name="connsiteY20" fmla="*/ 1806927 h 5154967"/>
              <a:gd name="connsiteX21" fmla="*/ 1621798 w 6184806"/>
              <a:gd name="connsiteY21" fmla="*/ 1806927 h 5154967"/>
              <a:gd name="connsiteX22" fmla="*/ 1583218 w 6184806"/>
              <a:gd name="connsiteY22" fmla="*/ 1801802 h 5154967"/>
              <a:gd name="connsiteX23" fmla="*/ 1556683 w 6184806"/>
              <a:gd name="connsiteY23" fmla="*/ 1790677 h 5154967"/>
              <a:gd name="connsiteX24" fmla="*/ 1572899 w 6184806"/>
              <a:gd name="connsiteY24" fmla="*/ 1762630 h 5154967"/>
              <a:gd name="connsiteX25" fmla="*/ 2147429 w 6184806"/>
              <a:gd name="connsiteY25" fmla="*/ 768968 h 5154967"/>
              <a:gd name="connsiteX26" fmla="*/ 2489721 w 6184806"/>
              <a:gd name="connsiteY26" fmla="*/ 570035 h 5154967"/>
              <a:gd name="connsiteX27" fmla="*/ 1573268 w 6184806"/>
              <a:gd name="connsiteY27" fmla="*/ 0 h 5154967"/>
              <a:gd name="connsiteX28" fmla="*/ 2497662 w 6184806"/>
              <a:gd name="connsiteY28" fmla="*/ 0 h 5154967"/>
              <a:gd name="connsiteX29" fmla="*/ 2639415 w 6184806"/>
              <a:gd name="connsiteY29" fmla="*/ 83546 h 5154967"/>
              <a:gd name="connsiteX30" fmla="*/ 2887862 w 6184806"/>
              <a:gd name="connsiteY30" fmla="*/ 511387 h 5154967"/>
              <a:gd name="connsiteX31" fmla="*/ 2915928 w 6184806"/>
              <a:gd name="connsiteY31" fmla="*/ 559720 h 5154967"/>
              <a:gd name="connsiteX32" fmla="*/ 2893844 w 6184806"/>
              <a:gd name="connsiteY32" fmla="*/ 559720 h 5154967"/>
              <a:gd name="connsiteX33" fmla="*/ 2789466 w 6184806"/>
              <a:gd name="connsiteY33" fmla="*/ 559720 h 5154967"/>
              <a:gd name="connsiteX34" fmla="*/ 2744122 w 6184806"/>
              <a:gd name="connsiteY34" fmla="*/ 481634 h 5154967"/>
              <a:gd name="connsiteX35" fmla="*/ 2570885 w 6184806"/>
              <a:gd name="connsiteY35" fmla="*/ 183309 h 5154967"/>
              <a:gd name="connsiteX36" fmla="*/ 2445216 w 6184806"/>
              <a:gd name="connsiteY36" fmla="*/ 109243 h 5154967"/>
              <a:gd name="connsiteX37" fmla="*/ 1625714 w 6184806"/>
              <a:gd name="connsiteY37" fmla="*/ 109243 h 5154967"/>
              <a:gd name="connsiteX38" fmla="*/ 1498276 w 6184806"/>
              <a:gd name="connsiteY38" fmla="*/ 183309 h 5154967"/>
              <a:gd name="connsiteX39" fmla="*/ 1089410 w 6184806"/>
              <a:gd name="connsiteY39" fmla="*/ 890450 h 5154967"/>
              <a:gd name="connsiteX40" fmla="*/ 1089410 w 6184806"/>
              <a:gd name="connsiteY40" fmla="*/ 1035054 h 5154967"/>
              <a:gd name="connsiteX41" fmla="*/ 1498276 w 6184806"/>
              <a:gd name="connsiteY41" fmla="*/ 1742196 h 5154967"/>
              <a:gd name="connsiteX42" fmla="*/ 1552039 w 6184806"/>
              <a:gd name="connsiteY42" fmla="*/ 1796422 h 5154967"/>
              <a:gd name="connsiteX43" fmla="*/ 1558260 w 6184806"/>
              <a:gd name="connsiteY43" fmla="*/ 1799029 h 5154967"/>
              <a:gd name="connsiteX44" fmla="*/ 1524911 w 6184806"/>
              <a:gd name="connsiteY44" fmla="*/ 1856707 h 5154967"/>
              <a:gd name="connsiteX45" fmla="*/ 1500108 w 6184806"/>
              <a:gd name="connsiteY45" fmla="*/ 1899604 h 5154967"/>
              <a:gd name="connsiteX46" fmla="*/ 1525834 w 6184806"/>
              <a:gd name="connsiteY46" fmla="*/ 1910390 h 5154967"/>
              <a:gd name="connsiteX47" fmla="*/ 1569352 w 6184806"/>
              <a:gd name="connsiteY47" fmla="*/ 1916170 h 5154967"/>
              <a:gd name="connsiteX48" fmla="*/ 2493745 w 6184806"/>
              <a:gd name="connsiteY48" fmla="*/ 1916170 h 5154967"/>
              <a:gd name="connsiteX49" fmla="*/ 2635498 w 6184806"/>
              <a:gd name="connsiteY49" fmla="*/ 1832627 h 5154967"/>
              <a:gd name="connsiteX50" fmla="*/ 3098693 w 6184806"/>
              <a:gd name="connsiteY50" fmla="*/ 1034974 h 5154967"/>
              <a:gd name="connsiteX51" fmla="*/ 3098693 w 6184806"/>
              <a:gd name="connsiteY51" fmla="*/ 871863 h 5154967"/>
              <a:gd name="connsiteX52" fmla="*/ 2945803 w 6184806"/>
              <a:gd name="connsiteY52" fmla="*/ 608576 h 5154967"/>
              <a:gd name="connsiteX53" fmla="*/ 2923422 w 6184806"/>
              <a:gd name="connsiteY53" fmla="*/ 570035 h 5154967"/>
              <a:gd name="connsiteX54" fmla="*/ 3027104 w 6184806"/>
              <a:gd name="connsiteY54" fmla="*/ 570035 h 5154967"/>
              <a:gd name="connsiteX55" fmla="*/ 4690846 w 6184806"/>
              <a:gd name="connsiteY55" fmla="*/ 570035 h 5154967"/>
              <a:gd name="connsiteX56" fmla="*/ 5028384 w 6184806"/>
              <a:gd name="connsiteY56" fmla="*/ 768968 h 5154967"/>
              <a:gd name="connsiteX57" fmla="*/ 6131323 w 6184806"/>
              <a:gd name="connsiteY57" fmla="*/ 2668304 h 5154967"/>
              <a:gd name="connsiteX58" fmla="*/ 6131323 w 6184806"/>
              <a:gd name="connsiteY58" fmla="*/ 3056698 h 5154967"/>
              <a:gd name="connsiteX59" fmla="*/ 5028384 w 6184806"/>
              <a:gd name="connsiteY59" fmla="*/ 4956035 h 5154967"/>
              <a:gd name="connsiteX60" fmla="*/ 4690846 w 6184806"/>
              <a:gd name="connsiteY60" fmla="*/ 5154967 h 5154967"/>
              <a:gd name="connsiteX61" fmla="*/ 2489721 w 6184806"/>
              <a:gd name="connsiteY61" fmla="*/ 5154967 h 5154967"/>
              <a:gd name="connsiteX62" fmla="*/ 2147429 w 6184806"/>
              <a:gd name="connsiteY62" fmla="*/ 4956035 h 5154967"/>
              <a:gd name="connsiteX63" fmla="*/ 1049243 w 6184806"/>
              <a:gd name="connsiteY63" fmla="*/ 3056698 h 5154967"/>
              <a:gd name="connsiteX64" fmla="*/ 1049243 w 6184806"/>
              <a:gd name="connsiteY64" fmla="*/ 2668304 h 5154967"/>
              <a:gd name="connsiteX65" fmla="*/ 1457007 w 6184806"/>
              <a:gd name="connsiteY65" fmla="*/ 1963067 h 5154967"/>
              <a:gd name="connsiteX66" fmla="*/ 1491373 w 6184806"/>
              <a:gd name="connsiteY66" fmla="*/ 1903634 h 5154967"/>
              <a:gd name="connsiteX67" fmla="*/ 1490164 w 6184806"/>
              <a:gd name="connsiteY67" fmla="*/ 1903127 h 5154967"/>
              <a:gd name="connsiteX68" fmla="*/ 1429519 w 6184806"/>
              <a:gd name="connsiteY68" fmla="*/ 1841960 h 5154967"/>
              <a:gd name="connsiteX69" fmla="*/ 968320 w 6184806"/>
              <a:gd name="connsiteY69" fmla="*/ 1044307 h 5154967"/>
              <a:gd name="connsiteX70" fmla="*/ 968320 w 6184806"/>
              <a:gd name="connsiteY70" fmla="*/ 881196 h 5154967"/>
              <a:gd name="connsiteX71" fmla="*/ 1429519 w 6184806"/>
              <a:gd name="connsiteY71" fmla="*/ 83546 h 5154967"/>
              <a:gd name="connsiteX72" fmla="*/ 1573268 w 6184806"/>
              <a:gd name="connsiteY72" fmla="*/ 0 h 515496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  <a:cxn ang="0">
                <a:pos x="connsiteX22" y="connsiteY22"/>
              </a:cxn>
              <a:cxn ang="0">
                <a:pos x="connsiteX23" y="connsiteY23"/>
              </a:cxn>
              <a:cxn ang="0">
                <a:pos x="connsiteX24" y="connsiteY24"/>
              </a:cxn>
              <a:cxn ang="0">
                <a:pos x="connsiteX25" y="connsiteY25"/>
              </a:cxn>
              <a:cxn ang="0">
                <a:pos x="connsiteX26" y="connsiteY26"/>
              </a:cxn>
              <a:cxn ang="0">
                <a:pos x="connsiteX27" y="connsiteY27"/>
              </a:cxn>
              <a:cxn ang="0">
                <a:pos x="connsiteX28" y="connsiteY28"/>
              </a:cxn>
              <a:cxn ang="0">
                <a:pos x="connsiteX29" y="connsiteY29"/>
              </a:cxn>
              <a:cxn ang="0">
                <a:pos x="connsiteX30" y="connsiteY30"/>
              </a:cxn>
              <a:cxn ang="0">
                <a:pos x="connsiteX31" y="connsiteY31"/>
              </a:cxn>
              <a:cxn ang="0">
                <a:pos x="connsiteX32" y="connsiteY32"/>
              </a:cxn>
              <a:cxn ang="0">
                <a:pos x="connsiteX33" y="connsiteY33"/>
              </a:cxn>
              <a:cxn ang="0">
                <a:pos x="connsiteX34" y="connsiteY34"/>
              </a:cxn>
              <a:cxn ang="0">
                <a:pos x="connsiteX35" y="connsiteY35"/>
              </a:cxn>
              <a:cxn ang="0">
                <a:pos x="connsiteX36" y="connsiteY36"/>
              </a:cxn>
              <a:cxn ang="0">
                <a:pos x="connsiteX37" y="connsiteY37"/>
              </a:cxn>
              <a:cxn ang="0">
                <a:pos x="connsiteX38" y="connsiteY38"/>
              </a:cxn>
              <a:cxn ang="0">
                <a:pos x="connsiteX39" y="connsiteY39"/>
              </a:cxn>
              <a:cxn ang="0">
                <a:pos x="connsiteX40" y="connsiteY40"/>
              </a:cxn>
              <a:cxn ang="0">
                <a:pos x="connsiteX41" y="connsiteY41"/>
              </a:cxn>
              <a:cxn ang="0">
                <a:pos x="connsiteX42" y="connsiteY42"/>
              </a:cxn>
              <a:cxn ang="0">
                <a:pos x="connsiteX43" y="connsiteY43"/>
              </a:cxn>
              <a:cxn ang="0">
                <a:pos x="connsiteX44" y="connsiteY44"/>
              </a:cxn>
              <a:cxn ang="0">
                <a:pos x="connsiteX45" y="connsiteY45"/>
              </a:cxn>
              <a:cxn ang="0">
                <a:pos x="connsiteX46" y="connsiteY46"/>
              </a:cxn>
              <a:cxn ang="0">
                <a:pos x="connsiteX47" y="connsiteY47"/>
              </a:cxn>
              <a:cxn ang="0">
                <a:pos x="connsiteX48" y="connsiteY48"/>
              </a:cxn>
              <a:cxn ang="0">
                <a:pos x="connsiteX49" y="connsiteY49"/>
              </a:cxn>
              <a:cxn ang="0">
                <a:pos x="connsiteX50" y="connsiteY50"/>
              </a:cxn>
              <a:cxn ang="0">
                <a:pos x="connsiteX51" y="connsiteY51"/>
              </a:cxn>
              <a:cxn ang="0">
                <a:pos x="connsiteX52" y="connsiteY52"/>
              </a:cxn>
              <a:cxn ang="0">
                <a:pos x="connsiteX53" y="connsiteY53"/>
              </a:cxn>
              <a:cxn ang="0">
                <a:pos x="connsiteX54" y="connsiteY54"/>
              </a:cxn>
              <a:cxn ang="0">
                <a:pos x="connsiteX55" y="connsiteY55"/>
              </a:cxn>
              <a:cxn ang="0">
                <a:pos x="connsiteX56" y="connsiteY56"/>
              </a:cxn>
              <a:cxn ang="0">
                <a:pos x="connsiteX57" y="connsiteY57"/>
              </a:cxn>
              <a:cxn ang="0">
                <a:pos x="connsiteX58" y="connsiteY58"/>
              </a:cxn>
              <a:cxn ang="0">
                <a:pos x="connsiteX59" y="connsiteY59"/>
              </a:cxn>
              <a:cxn ang="0">
                <a:pos x="connsiteX60" y="connsiteY60"/>
              </a:cxn>
              <a:cxn ang="0">
                <a:pos x="connsiteX61" y="connsiteY61"/>
              </a:cxn>
              <a:cxn ang="0">
                <a:pos x="connsiteX62" y="connsiteY62"/>
              </a:cxn>
              <a:cxn ang="0">
                <a:pos x="connsiteX63" y="connsiteY63"/>
              </a:cxn>
              <a:cxn ang="0">
                <a:pos x="connsiteX64" y="connsiteY64"/>
              </a:cxn>
              <a:cxn ang="0">
                <a:pos x="connsiteX65" y="connsiteY65"/>
              </a:cxn>
              <a:cxn ang="0">
                <a:pos x="connsiteX66" y="connsiteY66"/>
              </a:cxn>
              <a:cxn ang="0">
                <a:pos x="connsiteX67" y="connsiteY67"/>
              </a:cxn>
              <a:cxn ang="0">
                <a:pos x="connsiteX68" y="connsiteY68"/>
              </a:cxn>
              <a:cxn ang="0">
                <a:pos x="connsiteX69" y="connsiteY69"/>
              </a:cxn>
              <a:cxn ang="0">
                <a:pos x="connsiteX70" y="connsiteY70"/>
              </a:cxn>
              <a:cxn ang="0">
                <a:pos x="connsiteX71" y="connsiteY71"/>
              </a:cxn>
              <a:cxn ang="0">
                <a:pos x="connsiteX72" y="connsiteY72"/>
              </a:cxn>
            </a:cxnLst>
            <a:rect l="l" t="t" r="r" b="b"/>
            <a:pathLst>
              <a:path w="6184806" h="5154967">
                <a:moveTo>
                  <a:pt x="363179" y="3125191"/>
                </a:moveTo>
                <a:cubicBezTo>
                  <a:pt x="363179" y="3125191"/>
                  <a:pt x="363179" y="3125191"/>
                  <a:pt x="898270" y="3125191"/>
                </a:cubicBezTo>
                <a:cubicBezTo>
                  <a:pt x="931786" y="3125191"/>
                  <a:pt x="964145" y="3143614"/>
                  <a:pt x="980326" y="3173551"/>
                </a:cubicBezTo>
                <a:cubicBezTo>
                  <a:pt x="980326" y="3173551"/>
                  <a:pt x="980326" y="3173551"/>
                  <a:pt x="1248448" y="3635277"/>
                </a:cubicBezTo>
                <a:cubicBezTo>
                  <a:pt x="1265784" y="3664063"/>
                  <a:pt x="1265784" y="3700909"/>
                  <a:pt x="1248448" y="3729695"/>
                </a:cubicBezTo>
                <a:cubicBezTo>
                  <a:pt x="1248448" y="3729695"/>
                  <a:pt x="1248448" y="3729695"/>
                  <a:pt x="980326" y="4191421"/>
                </a:cubicBezTo>
                <a:cubicBezTo>
                  <a:pt x="964145" y="4221358"/>
                  <a:pt x="931786" y="4239781"/>
                  <a:pt x="898270" y="4239781"/>
                </a:cubicBezTo>
                <a:cubicBezTo>
                  <a:pt x="898270" y="4239781"/>
                  <a:pt x="898270" y="4239781"/>
                  <a:pt x="363179" y="4239781"/>
                </a:cubicBezTo>
                <a:cubicBezTo>
                  <a:pt x="328508" y="4239781"/>
                  <a:pt x="297305" y="4221358"/>
                  <a:pt x="279969" y="4191421"/>
                </a:cubicBezTo>
                <a:cubicBezTo>
                  <a:pt x="279969" y="4191421"/>
                  <a:pt x="279969" y="4191421"/>
                  <a:pt x="13002" y="3729695"/>
                </a:cubicBezTo>
                <a:cubicBezTo>
                  <a:pt x="-4334" y="3700909"/>
                  <a:pt x="-4334" y="3664063"/>
                  <a:pt x="13002" y="3635277"/>
                </a:cubicBezTo>
                <a:cubicBezTo>
                  <a:pt x="13002" y="3635277"/>
                  <a:pt x="13002" y="3635277"/>
                  <a:pt x="279969" y="3173551"/>
                </a:cubicBezTo>
                <a:cubicBezTo>
                  <a:pt x="297305" y="3143614"/>
                  <a:pt x="328508" y="3125191"/>
                  <a:pt x="363179" y="3125191"/>
                </a:cubicBezTo>
                <a:close/>
                <a:moveTo>
                  <a:pt x="2489721" y="570035"/>
                </a:moveTo>
                <a:cubicBezTo>
                  <a:pt x="2489721" y="570035"/>
                  <a:pt x="2489721" y="570035"/>
                  <a:pt x="2764862" y="570035"/>
                </a:cubicBezTo>
                <a:lnTo>
                  <a:pt x="2796959" y="570035"/>
                </a:lnTo>
                <a:lnTo>
                  <a:pt x="2827587" y="622777"/>
                </a:lnTo>
                <a:cubicBezTo>
                  <a:pt x="2870233" y="696217"/>
                  <a:pt x="2919858" y="781675"/>
                  <a:pt x="2977604" y="881117"/>
                </a:cubicBezTo>
                <a:cubicBezTo>
                  <a:pt x="3004153" y="925204"/>
                  <a:pt x="3004153" y="981634"/>
                  <a:pt x="2977604" y="1025720"/>
                </a:cubicBezTo>
                <a:cubicBezTo>
                  <a:pt x="2977604" y="1025720"/>
                  <a:pt x="2977604" y="1025720"/>
                  <a:pt x="2566968" y="1732863"/>
                </a:cubicBezTo>
                <a:cubicBezTo>
                  <a:pt x="2542188" y="1778712"/>
                  <a:pt x="2492629" y="1806927"/>
                  <a:pt x="2441299" y="1806927"/>
                </a:cubicBezTo>
                <a:cubicBezTo>
                  <a:pt x="2441299" y="1806927"/>
                  <a:pt x="2441299" y="1806927"/>
                  <a:pt x="1621798" y="1806927"/>
                </a:cubicBezTo>
                <a:cubicBezTo>
                  <a:pt x="1608523" y="1806927"/>
                  <a:pt x="1595580" y="1805163"/>
                  <a:pt x="1583218" y="1801802"/>
                </a:cubicBezTo>
                <a:lnTo>
                  <a:pt x="1556683" y="1790677"/>
                </a:lnTo>
                <a:lnTo>
                  <a:pt x="1572899" y="1762630"/>
                </a:lnTo>
                <a:cubicBezTo>
                  <a:pt x="1719523" y="1509042"/>
                  <a:pt x="1907201" y="1184448"/>
                  <a:pt x="2147429" y="768968"/>
                </a:cubicBezTo>
                <a:cubicBezTo>
                  <a:pt x="2218739" y="645819"/>
                  <a:pt x="2347099" y="570035"/>
                  <a:pt x="2489721" y="570035"/>
                </a:cubicBezTo>
                <a:close/>
                <a:moveTo>
                  <a:pt x="1573268" y="0"/>
                </a:moveTo>
                <a:cubicBezTo>
                  <a:pt x="1573268" y="0"/>
                  <a:pt x="1573268" y="0"/>
                  <a:pt x="2497662" y="0"/>
                </a:cubicBezTo>
                <a:cubicBezTo>
                  <a:pt x="2555561" y="0"/>
                  <a:pt x="2611463" y="31828"/>
                  <a:pt x="2639415" y="83546"/>
                </a:cubicBezTo>
                <a:cubicBezTo>
                  <a:pt x="2639415" y="83546"/>
                  <a:pt x="2639415" y="83546"/>
                  <a:pt x="2887862" y="511387"/>
                </a:cubicBezTo>
                <a:lnTo>
                  <a:pt x="2915928" y="559720"/>
                </a:lnTo>
                <a:lnTo>
                  <a:pt x="2893844" y="559720"/>
                </a:lnTo>
                <a:lnTo>
                  <a:pt x="2789466" y="559720"/>
                </a:lnTo>
                <a:lnTo>
                  <a:pt x="2744122" y="481634"/>
                </a:lnTo>
                <a:cubicBezTo>
                  <a:pt x="2570885" y="183309"/>
                  <a:pt x="2570885" y="183309"/>
                  <a:pt x="2570885" y="183309"/>
                </a:cubicBezTo>
                <a:cubicBezTo>
                  <a:pt x="2546104" y="137459"/>
                  <a:pt x="2496545" y="109243"/>
                  <a:pt x="2445216" y="109243"/>
                </a:cubicBezTo>
                <a:cubicBezTo>
                  <a:pt x="1625714" y="109243"/>
                  <a:pt x="1625714" y="109243"/>
                  <a:pt x="1625714" y="109243"/>
                </a:cubicBezTo>
                <a:cubicBezTo>
                  <a:pt x="1572615" y="109243"/>
                  <a:pt x="1524825" y="137459"/>
                  <a:pt x="1498276" y="183309"/>
                </a:cubicBezTo>
                <a:cubicBezTo>
                  <a:pt x="1089410" y="890450"/>
                  <a:pt x="1089410" y="890450"/>
                  <a:pt x="1089410" y="890450"/>
                </a:cubicBezTo>
                <a:cubicBezTo>
                  <a:pt x="1062860" y="934537"/>
                  <a:pt x="1062860" y="990967"/>
                  <a:pt x="1089410" y="1035054"/>
                </a:cubicBezTo>
                <a:cubicBezTo>
                  <a:pt x="1498276" y="1742196"/>
                  <a:pt x="1498276" y="1742196"/>
                  <a:pt x="1498276" y="1742196"/>
                </a:cubicBezTo>
                <a:cubicBezTo>
                  <a:pt x="1511551" y="1765121"/>
                  <a:pt x="1530135" y="1783637"/>
                  <a:pt x="1552039" y="1796422"/>
                </a:cubicBezTo>
                <a:lnTo>
                  <a:pt x="1558260" y="1799029"/>
                </a:lnTo>
                <a:lnTo>
                  <a:pt x="1524911" y="1856707"/>
                </a:lnTo>
                <a:lnTo>
                  <a:pt x="1500108" y="1899604"/>
                </a:lnTo>
                <a:lnTo>
                  <a:pt x="1525834" y="1910390"/>
                </a:lnTo>
                <a:cubicBezTo>
                  <a:pt x="1539779" y="1914181"/>
                  <a:pt x="1554378" y="1916170"/>
                  <a:pt x="1569352" y="1916170"/>
                </a:cubicBezTo>
                <a:cubicBezTo>
                  <a:pt x="2493745" y="1916170"/>
                  <a:pt x="2493745" y="1916170"/>
                  <a:pt x="2493745" y="1916170"/>
                </a:cubicBezTo>
                <a:cubicBezTo>
                  <a:pt x="2551645" y="1916170"/>
                  <a:pt x="2607546" y="1884345"/>
                  <a:pt x="2635498" y="1832627"/>
                </a:cubicBezTo>
                <a:cubicBezTo>
                  <a:pt x="3098693" y="1034974"/>
                  <a:pt x="3098693" y="1034974"/>
                  <a:pt x="3098693" y="1034974"/>
                </a:cubicBezTo>
                <a:cubicBezTo>
                  <a:pt x="3128641" y="985246"/>
                  <a:pt x="3128641" y="921593"/>
                  <a:pt x="3098693" y="871863"/>
                </a:cubicBezTo>
                <a:cubicBezTo>
                  <a:pt x="3040794" y="772157"/>
                  <a:pt x="2990132" y="684914"/>
                  <a:pt x="2945803" y="608576"/>
                </a:cubicBezTo>
                <a:lnTo>
                  <a:pt x="2923422" y="570035"/>
                </a:lnTo>
                <a:lnTo>
                  <a:pt x="3027104" y="570035"/>
                </a:lnTo>
                <a:cubicBezTo>
                  <a:pt x="3349535" y="570035"/>
                  <a:pt x="3865424" y="570035"/>
                  <a:pt x="4690846" y="570035"/>
                </a:cubicBezTo>
                <a:cubicBezTo>
                  <a:pt x="4828714" y="570035"/>
                  <a:pt x="4961827" y="645819"/>
                  <a:pt x="5028384" y="768968"/>
                </a:cubicBezTo>
                <a:cubicBezTo>
                  <a:pt x="5028384" y="768968"/>
                  <a:pt x="5028384" y="768968"/>
                  <a:pt x="6131323" y="2668304"/>
                </a:cubicBezTo>
                <a:cubicBezTo>
                  <a:pt x="6202634" y="2786717"/>
                  <a:pt x="6202634" y="2938285"/>
                  <a:pt x="6131323" y="3056698"/>
                </a:cubicBezTo>
                <a:cubicBezTo>
                  <a:pt x="6131323" y="3056698"/>
                  <a:pt x="6131323" y="3056698"/>
                  <a:pt x="5028384" y="4956035"/>
                </a:cubicBezTo>
                <a:cubicBezTo>
                  <a:pt x="4961827" y="5079184"/>
                  <a:pt x="4828714" y="5154967"/>
                  <a:pt x="4690846" y="5154967"/>
                </a:cubicBezTo>
                <a:cubicBezTo>
                  <a:pt x="4690846" y="5154967"/>
                  <a:pt x="4690846" y="5154967"/>
                  <a:pt x="2489721" y="5154967"/>
                </a:cubicBezTo>
                <a:cubicBezTo>
                  <a:pt x="2347099" y="5154967"/>
                  <a:pt x="2218739" y="5079184"/>
                  <a:pt x="2147429" y="4956035"/>
                </a:cubicBezTo>
                <a:cubicBezTo>
                  <a:pt x="2147429" y="4956035"/>
                  <a:pt x="2147429" y="4956035"/>
                  <a:pt x="1049243" y="3056698"/>
                </a:cubicBezTo>
                <a:cubicBezTo>
                  <a:pt x="977932" y="2938285"/>
                  <a:pt x="977932" y="2786717"/>
                  <a:pt x="1049243" y="2668304"/>
                </a:cubicBezTo>
                <a:cubicBezTo>
                  <a:pt x="1049243" y="2668304"/>
                  <a:pt x="1049243" y="2668304"/>
                  <a:pt x="1457007" y="1963067"/>
                </a:cubicBezTo>
                <a:lnTo>
                  <a:pt x="1491373" y="1903634"/>
                </a:lnTo>
                <a:lnTo>
                  <a:pt x="1490164" y="1903127"/>
                </a:lnTo>
                <a:cubicBezTo>
                  <a:pt x="1465456" y="1888705"/>
                  <a:pt x="1444493" y="1867820"/>
                  <a:pt x="1429519" y="1841960"/>
                </a:cubicBezTo>
                <a:cubicBezTo>
                  <a:pt x="1429519" y="1841960"/>
                  <a:pt x="1429519" y="1841960"/>
                  <a:pt x="968320" y="1044307"/>
                </a:cubicBezTo>
                <a:cubicBezTo>
                  <a:pt x="938371" y="994579"/>
                  <a:pt x="938371" y="930926"/>
                  <a:pt x="968320" y="881196"/>
                </a:cubicBezTo>
                <a:cubicBezTo>
                  <a:pt x="968320" y="881196"/>
                  <a:pt x="968320" y="881196"/>
                  <a:pt x="1429519" y="83546"/>
                </a:cubicBezTo>
                <a:cubicBezTo>
                  <a:pt x="1459466" y="31828"/>
                  <a:pt x="1513373" y="0"/>
                  <a:pt x="1573268" y="0"/>
                </a:cubicBezTo>
                <a:close/>
              </a:path>
            </a:pathLst>
          </a:custGeom>
          <a:solidFill>
            <a:schemeClr val="tx1">
              <a:lumMod val="50000"/>
              <a:lumOff val="50000"/>
              <a:alpha val="15000"/>
            </a:schemeClr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rtlCol="0" anchor="ctr">
            <a:noAutofit/>
          </a:bodyPr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9120848B-B2B4-45BE-A961-AEC0B06CF41B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59916"/>
          <a:stretch/>
        </p:blipFill>
        <p:spPr>
          <a:xfrm>
            <a:off x="6854891" y="1715881"/>
            <a:ext cx="3203509" cy="3426237"/>
          </a:xfrm>
          <a:prstGeom prst="rect">
            <a:avLst/>
          </a:prstGeom>
        </p:spPr>
      </p:pic>
      <p:sp>
        <p:nvSpPr>
          <p:cNvPr id="4" name="Subtitle 3"/>
          <p:cNvSpPr>
            <a:spLocks noGrp="1"/>
          </p:cNvSpPr>
          <p:nvPr>
            <p:ph type="subTitle" idx="1"/>
          </p:nvPr>
        </p:nvSpPr>
        <p:spPr>
          <a:xfrm>
            <a:off x="1245686" y="648614"/>
            <a:ext cx="8534400" cy="1752600"/>
          </a:xfrm>
        </p:spPr>
        <p:txBody>
          <a:bodyPr/>
          <a:lstStyle/>
          <a:p>
            <a:pPr>
              <a:spcAft>
                <a:spcPts val="0"/>
              </a:spcAft>
            </a:pPr>
            <a:r>
              <a:rPr sz="4000" b="1">
                <a:solidFill>
                  <a:srgbClr val="10243B"/>
                </a:solidFill>
                <a:latin typeface="Calibri"/>
              </a:rPr>
              <a:t>SENTRA</a:t>
            </a:r>
            <a:endParaRPr lang="en-US" b="1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>
              <a:spcAft>
                <a:spcPts val="0"/>
              </a:spcAft>
            </a:pPr>
            <a:r>
              <a:rPr sz="1400" b="1">
                <a:solidFill>
                  <a:srgbClr val="0070C0"/>
                </a:solidFill>
                <a:latin typeface="Calibri"/>
              </a:rPr>
              <a:t>Sense the Risk  ·  Stop the Incident</a:t>
            </a:r>
          </a:p>
        </p:txBody>
      </p:sp>
      <p:sp>
        <p:nvSpPr>
          <p:cNvPr id="8" name="Title 7"/>
          <p:cNvSpPr>
            <a:spLocks noGrp="1"/>
          </p:cNvSpPr>
          <p:nvPr>
            <p:ph type="ctrTitle"/>
          </p:nvPr>
        </p:nvSpPr>
        <p:spPr>
          <a:xfrm>
            <a:off x="331286" y="-526757"/>
            <a:ext cx="10363200" cy="2076450"/>
          </a:xfrm>
        </p:spPr>
        <p:txBody>
          <a:bodyPr/>
          <a:lstStyle/>
          <a:p>
            <a:r>
              <a:rPr lang="en-US" sz="4000" b="1" dirty="0">
                <a:solidFill>
                  <a:schemeClr val="tx2"/>
                </a:solidFill>
                <a:latin typeface="Garamond" panose="02020404030301010803" pitchFamily="18" charset="0"/>
              </a:rPr>
              <a:t>SMART INDIA HACKATHON </a:t>
            </a:r>
            <a:r>
              <a:rPr lang="en-US" sz="4000" b="1" dirty="0" smtClean="0">
                <a:solidFill>
                  <a:schemeClr val="tx2"/>
                </a:solidFill>
                <a:latin typeface="Garamond" panose="02020404030301010803" pitchFamily="18" charset="0"/>
              </a:rPr>
              <a:t>2026</a:t>
            </a:r>
            <a:endParaRPr lang="en-IN" sz="4000" b="1" dirty="0">
              <a:solidFill>
                <a:schemeClr val="tx2"/>
              </a:solidFill>
              <a:latin typeface="Garamond" panose="02020404030301010803" pitchFamily="18" charset="0"/>
            </a:endParaRPr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38" name="TextBox 37"/>
          <p:cNvSpPr txBox="1"/>
          <p:nvPr/>
        </p:nvSpPr>
        <p:spPr>
          <a:xfrm>
            <a:off x="384048" y="2514600"/>
            <a:ext cx="6035040" cy="3566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700"/>
              </a:spcAft>
            </a:pPr>
            <a:r>
              <a:rPr sz="1400" b="1">
                <a:solidFill>
                  <a:srgbClr val="10243B"/>
                </a:solidFill>
                <a:latin typeface="Calibri"/>
              </a:rPr>
              <a:t>Problem Statement ID – 26165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0243B"/>
                </a:solidFill>
                <a:latin typeface="Calibri"/>
              </a:rPr>
              <a:t>Problem Statement Title – AI/NLP Engine to Detect Serious Injury &amp; Fatality (SIF) Precursors in OIL's Unsafe-Act / Unsafe-Condition and Near-Miss Reports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0243B"/>
                </a:solidFill>
                <a:latin typeface="Calibri"/>
              </a:rPr>
              <a:t>Theme – Smart Automation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0243B"/>
                </a:solidFill>
                <a:latin typeface="Calibri"/>
              </a:rPr>
              <a:t>PS Category – Software</a:t>
            </a:r>
          </a:p>
          <a:p>
            <a:pPr>
              <a:spcAft>
                <a:spcPts val="700"/>
              </a:spcAft>
            </a:pPr>
            <a:r>
              <a:rPr sz="1250" b="0">
                <a:solidFill>
                  <a:srgbClr val="10243B"/>
                </a:solidFill>
                <a:latin typeface="Calibri"/>
              </a:rPr>
              <a:t>Team ID – ______________  (enter from the SIH portal)</a:t>
            </a:r>
          </a:p>
          <a:p>
            <a:pPr>
              <a:spcAft>
                <a:spcPts val="700"/>
              </a:spcAft>
            </a:pPr>
            <a:r>
              <a:rPr sz="1400" b="1">
                <a:solidFill>
                  <a:srgbClr val="10243B"/>
                </a:solidFill>
                <a:latin typeface="Calibri"/>
              </a:rPr>
              <a:t>Team Name – WellDrop</a:t>
            </a:r>
          </a:p>
          <a:p>
            <a:pPr>
              <a:spcAft>
                <a:spcPts val="0"/>
              </a:spcAft>
            </a:pPr>
            <a:r>
              <a:rPr sz="1150" b="0">
                <a:solidFill>
                  <a:srgbClr val="5A6B7C"/>
                </a:solidFill>
                <a:latin typeface="Calibri"/>
              </a:rPr>
              <a:t>Organisation – Oil India Limited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Rectangle 8"/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5361" name="Title 1"/>
          <p:cNvSpPr>
            <a:spLocks noGrp="1"/>
          </p:cNvSpPr>
          <p:nvPr>
            <p:ph type="title"/>
          </p:nvPr>
        </p:nvSpPr>
        <p:spPr>
          <a:xfrm>
            <a:off x="182998" y="0"/>
            <a:ext cx="10972800" cy="1143000"/>
          </a:xfrm>
        </p:spPr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/>
            </a:r>
            <a:b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</a:br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IDEA TITLE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 smtClean="0">
                <a:solidFill>
                  <a:schemeClr val="bg1"/>
                </a:solidFill>
              </a:rPr>
              <a:pPr/>
              <a:t>2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0" name="Oval 9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WellDrop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5362" name="TextBox 15361"/>
          <p:cNvSpPr txBox="1"/>
          <p:nvPr/>
        </p:nvSpPr>
        <p:spPr>
          <a:xfrm>
            <a:off x="411480" y="1225296"/>
            <a:ext cx="1138428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400" b="1">
                <a:solidFill>
                  <a:srgbClr val="10243B"/>
                </a:solidFill>
                <a:latin typeface="Calibri"/>
              </a:rPr>
              <a:t>SENTRA reads every UA/UC and near-miss report and flags fatal potential — on the shift it is written.</a:t>
            </a:r>
          </a:p>
        </p:txBody>
      </p:sp>
      <p:pic>
        <p:nvPicPr>
          <p:cNvPr id="15363" name="Picture 15362" descr="rul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645920"/>
            <a:ext cx="6720840" cy="1626010"/>
          </a:xfrm>
          <a:prstGeom prst="rect">
            <a:avLst/>
          </a:prstGeom>
        </p:spPr>
      </p:pic>
      <p:sp>
        <p:nvSpPr>
          <p:cNvPr id="15364" name="TextBox 15363"/>
          <p:cNvSpPr txBox="1"/>
          <p:nvPr/>
        </p:nvSpPr>
        <p:spPr>
          <a:xfrm>
            <a:off x="411480" y="3383280"/>
            <a:ext cx="672084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070C0"/>
                </a:solidFill>
                <a:latin typeface="Calibri"/>
              </a:rPr>
              <a:t>WHAT MAKES IT DIFFERENT</a:t>
            </a:r>
          </a:p>
        </p:txBody>
      </p:sp>
      <p:sp>
        <p:nvSpPr>
          <p:cNvPr id="15365" name="Rounded Rectangle 15364"/>
          <p:cNvSpPr/>
          <p:nvPr/>
        </p:nvSpPr>
        <p:spPr>
          <a:xfrm>
            <a:off x="411480" y="3639312"/>
            <a:ext cx="6720840" cy="457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66" name="Oval 15365"/>
          <p:cNvSpPr/>
          <p:nvPr/>
        </p:nvSpPr>
        <p:spPr>
          <a:xfrm>
            <a:off x="521208" y="3749040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5367" name="TextBox 15366"/>
          <p:cNvSpPr txBox="1"/>
          <p:nvPr/>
        </p:nvSpPr>
        <p:spPr>
          <a:xfrm>
            <a:off x="868680" y="3685032"/>
            <a:ext cx="61539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b="1" sz="1050">
                <a:solidFill>
                  <a:srgbClr val="10243B"/>
                </a:solidFill>
                <a:latin typeface="Calibri"/>
              </a:rPr>
              <a:t>Hybrid, not black box —  </a:t>
            </a:r>
            <a:r>
              <a:rPr b="0" sz="950">
                <a:solidFill>
                  <a:srgbClr val="5A6B7C"/>
                </a:solidFill>
                <a:latin typeface="Calibri"/>
              </a:rPr>
              <a:t>safety rules + semantic transformer + XGBoost; the model may only add a flag, never overturn a rule</a:t>
            </a:r>
          </a:p>
        </p:txBody>
      </p:sp>
      <p:sp>
        <p:nvSpPr>
          <p:cNvPr id="15368" name="Rounded Rectangle 15367"/>
          <p:cNvSpPr/>
          <p:nvPr/>
        </p:nvSpPr>
        <p:spPr>
          <a:xfrm>
            <a:off x="411480" y="4146804"/>
            <a:ext cx="6720840" cy="457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69" name="Oval 15368"/>
          <p:cNvSpPr/>
          <p:nvPr/>
        </p:nvSpPr>
        <p:spPr>
          <a:xfrm>
            <a:off x="521208" y="4256532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5370" name="TextBox 15369"/>
          <p:cNvSpPr txBox="1"/>
          <p:nvPr/>
        </p:nvSpPr>
        <p:spPr>
          <a:xfrm>
            <a:off x="868680" y="4192524"/>
            <a:ext cx="61539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b="1" sz="1050">
                <a:solidFill>
                  <a:srgbClr val="10243B"/>
                </a:solidFill>
                <a:latin typeface="Calibri"/>
              </a:rPr>
              <a:t>Evidence on every flag —  </a:t>
            </a:r>
            <a:r>
              <a:rPr b="0" sz="950">
                <a:solidFill>
                  <a:srgbClr val="5A6B7C"/>
                </a:solidFill>
                <a:latin typeface="Calibri"/>
              </a:rPr>
              <a:t>matched cues and decision path, so HSE audits the reasoning before acting</a:t>
            </a:r>
          </a:p>
        </p:txBody>
      </p:sp>
      <p:sp>
        <p:nvSpPr>
          <p:cNvPr id="15371" name="Rounded Rectangle 15370"/>
          <p:cNvSpPr/>
          <p:nvPr/>
        </p:nvSpPr>
        <p:spPr>
          <a:xfrm>
            <a:off x="411480" y="4654296"/>
            <a:ext cx="6720840" cy="457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72" name="Oval 15371"/>
          <p:cNvSpPr/>
          <p:nvPr/>
        </p:nvSpPr>
        <p:spPr>
          <a:xfrm>
            <a:off x="521208" y="4764024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5373" name="TextBox 15372"/>
          <p:cNvSpPr txBox="1"/>
          <p:nvPr/>
        </p:nvSpPr>
        <p:spPr>
          <a:xfrm>
            <a:off x="868680" y="4700016"/>
            <a:ext cx="61539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b="1" sz="1050">
                <a:solidFill>
                  <a:srgbClr val="10243B"/>
                </a:solidFill>
                <a:latin typeface="Calibri"/>
              </a:rPr>
              <a:t>Zero-shot rule mapping —  </a:t>
            </a:r>
            <a:r>
              <a:rPr b="0" sz="950">
                <a:solidFill>
                  <a:srgbClr val="5A6B7C"/>
                </a:solidFill>
                <a:latin typeface="Calibri"/>
              </a:rPr>
              <a:t>9 IOGP Life-Saving Rules + 2 upstream categories, with no labelled data to start</a:t>
            </a:r>
          </a:p>
        </p:txBody>
      </p:sp>
      <p:sp>
        <p:nvSpPr>
          <p:cNvPr id="15374" name="Rounded Rectangle 15373"/>
          <p:cNvSpPr/>
          <p:nvPr/>
        </p:nvSpPr>
        <p:spPr>
          <a:xfrm>
            <a:off x="411480" y="5161788"/>
            <a:ext cx="6720840" cy="457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75" name="Oval 15374"/>
          <p:cNvSpPr/>
          <p:nvPr/>
        </p:nvSpPr>
        <p:spPr>
          <a:xfrm>
            <a:off x="521208" y="5271516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5376" name="TextBox 15375"/>
          <p:cNvSpPr txBox="1"/>
          <p:nvPr/>
        </p:nvSpPr>
        <p:spPr>
          <a:xfrm>
            <a:off x="868680" y="5207507"/>
            <a:ext cx="61539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b="1" sz="1050">
                <a:solidFill>
                  <a:srgbClr val="10243B"/>
                </a:solidFill>
                <a:latin typeface="Calibri"/>
              </a:rPr>
              <a:t>Runs offline —  </a:t>
            </a:r>
            <a:r>
              <a:rPr b="0" sz="950">
                <a:solidFill>
                  <a:srgbClr val="5A6B7C"/>
                </a:solidFill>
                <a:latin typeface="Calibri"/>
              </a:rPr>
              <a:t>deterministic mode needs no model and no network: safe for plant/air-gapped sites</a:t>
            </a:r>
          </a:p>
        </p:txBody>
      </p:sp>
      <p:sp>
        <p:nvSpPr>
          <p:cNvPr id="15377" name="Rounded Rectangle 15376"/>
          <p:cNvSpPr/>
          <p:nvPr/>
        </p:nvSpPr>
        <p:spPr>
          <a:xfrm>
            <a:off x="411480" y="5669279"/>
            <a:ext cx="6720840" cy="457200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78" name="Oval 15377"/>
          <p:cNvSpPr/>
          <p:nvPr/>
        </p:nvSpPr>
        <p:spPr>
          <a:xfrm>
            <a:off x="521208" y="5779007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5379" name="TextBox 15378"/>
          <p:cNvSpPr txBox="1"/>
          <p:nvPr/>
        </p:nvSpPr>
        <p:spPr>
          <a:xfrm>
            <a:off x="868680" y="5714999"/>
            <a:ext cx="615391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b="1" sz="1050">
                <a:solidFill>
                  <a:srgbClr val="10243B"/>
                </a:solidFill>
                <a:latin typeface="Calibri"/>
              </a:rPr>
              <a:t>Human-in-the-loop —  </a:t>
            </a:r>
            <a:r>
              <a:rPr b="0" sz="950">
                <a:solidFill>
                  <a:srgbClr val="5A6B7C"/>
                </a:solidFill>
                <a:latin typeface="Calibri"/>
              </a:rPr>
              <a:t>rule/model disagreement is queued for an expert, and that decision becomes a label</a:t>
            </a:r>
          </a:p>
        </p:txBody>
      </p:sp>
      <p:sp>
        <p:nvSpPr>
          <p:cNvPr id="15380" name="Rounded Rectangle 15379"/>
          <p:cNvSpPr/>
          <p:nvPr/>
        </p:nvSpPr>
        <p:spPr>
          <a:xfrm>
            <a:off x="7406640" y="1645920"/>
            <a:ext cx="4389120" cy="1207008"/>
          </a:xfrm>
          <a:prstGeom prst="roundRect">
            <a:avLst>
              <a:gd name="adj" fmla="val 6000"/>
            </a:avLst>
          </a:prstGeom>
          <a:solidFill>
            <a:srgbClr val="FDF1F2"/>
          </a:solidFill>
          <a:ln w="9525">
            <a:solidFill>
              <a:srgbClr val="F2C7C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81" name="TextBox 15380"/>
          <p:cNvSpPr txBox="1"/>
          <p:nvPr/>
        </p:nvSpPr>
        <p:spPr>
          <a:xfrm>
            <a:off x="7571231" y="1755648"/>
            <a:ext cx="4059935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050" b="1">
                <a:solidFill>
                  <a:srgbClr val="D7263D"/>
                </a:solidFill>
                <a:latin typeface="Calibri"/>
              </a:rPr>
              <a:t>THE GAP TODAY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Reports triaged by hand, monthly or quarterly</a:t>
            </a:r>
          </a:p>
          <a:p>
            <a:pPr>
              <a:spcAft>
                <a:spcPts val="30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Injuries fell 51% in 15 years — fatalities only 25.5%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Low severity ≠ low fatal potential: ~20–25% of reports carry it</a:t>
            </a:r>
          </a:p>
        </p:txBody>
      </p:sp>
      <p:pic>
        <p:nvPicPr>
          <p:cNvPr id="15382" name="Picture 15381" descr="dash_t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406640" y="3017520"/>
            <a:ext cx="4389120" cy="1689617"/>
          </a:xfrm>
          <a:prstGeom prst="rect">
            <a:avLst/>
          </a:prstGeom>
        </p:spPr>
      </p:pic>
      <p:sp>
        <p:nvSpPr>
          <p:cNvPr id="15383" name="TextBox 15382"/>
          <p:cNvSpPr txBox="1"/>
          <p:nvPr/>
        </p:nvSpPr>
        <p:spPr>
          <a:xfrm>
            <a:off x="7406640" y="477316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900" b="0">
                <a:solidFill>
                  <a:srgbClr val="5A6B7C"/>
                </a:solidFill>
                <a:latin typeface="Calibri"/>
              </a:rPr>
              <a:t>Working prototype — live dashboard, not a mock-up</a:t>
            </a:r>
          </a:p>
        </p:txBody>
      </p:sp>
      <p:sp>
        <p:nvSpPr>
          <p:cNvPr id="15384" name="Rounded Rectangle 15383"/>
          <p:cNvSpPr/>
          <p:nvPr/>
        </p:nvSpPr>
        <p:spPr>
          <a:xfrm>
            <a:off x="7406640" y="5230368"/>
            <a:ext cx="1371600" cy="71323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85" name="TextBox 15384"/>
          <p:cNvSpPr txBox="1"/>
          <p:nvPr/>
        </p:nvSpPr>
        <p:spPr>
          <a:xfrm>
            <a:off x="7406640" y="5303520"/>
            <a:ext cx="13716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070C0"/>
                </a:solidFill>
                <a:latin typeface="Calibri"/>
              </a:rPr>
              <a:t>74</a:t>
            </a:r>
          </a:p>
          <a:p>
            <a:pPr algn="ctr"/>
            <a:r>
              <a:rPr sz="850">
                <a:solidFill>
                  <a:srgbClr val="5A6B7C"/>
                </a:solidFill>
                <a:latin typeface="Calibri"/>
              </a:rPr>
              <a:t>automated tests</a:t>
            </a:r>
          </a:p>
        </p:txBody>
      </p:sp>
      <p:sp>
        <p:nvSpPr>
          <p:cNvPr id="15386" name="Rounded Rectangle 15385"/>
          <p:cNvSpPr/>
          <p:nvPr/>
        </p:nvSpPr>
        <p:spPr>
          <a:xfrm>
            <a:off x="8915400" y="5230368"/>
            <a:ext cx="1371600" cy="71323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87" name="TextBox 15386"/>
          <p:cNvSpPr txBox="1"/>
          <p:nvPr/>
        </p:nvSpPr>
        <p:spPr>
          <a:xfrm>
            <a:off x="8915400" y="5303520"/>
            <a:ext cx="13716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070C0"/>
                </a:solidFill>
                <a:latin typeface="Calibri"/>
              </a:rPr>
              <a:t>11</a:t>
            </a:r>
          </a:p>
          <a:p>
            <a:pPr algn="ctr"/>
            <a:r>
              <a:rPr sz="850">
                <a:solidFill>
                  <a:srgbClr val="5A6B7C"/>
                </a:solidFill>
                <a:latin typeface="Calibri"/>
              </a:rPr>
              <a:t>IOGP categories</a:t>
            </a:r>
          </a:p>
        </p:txBody>
      </p:sp>
      <p:sp>
        <p:nvSpPr>
          <p:cNvPr id="15388" name="Rounded Rectangle 15387"/>
          <p:cNvSpPr/>
          <p:nvPr/>
        </p:nvSpPr>
        <p:spPr>
          <a:xfrm>
            <a:off x="10424160" y="5230368"/>
            <a:ext cx="1371600" cy="71323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5389" name="TextBox 15388"/>
          <p:cNvSpPr txBox="1"/>
          <p:nvPr/>
        </p:nvSpPr>
        <p:spPr>
          <a:xfrm>
            <a:off x="10424160" y="5303520"/>
            <a:ext cx="1371600" cy="5852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spcAft>
                <a:spcPts val="0"/>
              </a:spcAft>
            </a:pPr>
            <a:r>
              <a:rPr sz="1900" b="1">
                <a:solidFill>
                  <a:srgbClr val="0070C0"/>
                </a:solidFill>
                <a:latin typeface="Calibri"/>
              </a:rPr>
              <a:t>0</a:t>
            </a:r>
          </a:p>
          <a:p>
            <a:pPr algn="ctr"/>
            <a:r>
              <a:rPr sz="850">
                <a:solidFill>
                  <a:srgbClr val="5A6B7C"/>
                </a:solidFill>
                <a:latin typeface="Calibri"/>
              </a:rPr>
              <a:t>labelled rows to start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lang="en-US" dirty="0">
              <a:solidFill>
                <a:schemeClr val="accent2">
                  <a:lumMod val="75000"/>
                </a:schemeClr>
              </a:solidFill>
              <a:latin typeface="+mn-lt"/>
              <a:ea typeface="+mn-ea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TECHNICAL APPROACH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77C3CE7-23F7-4828-823C-E0205DF2CF97}" type="slidenum">
              <a:rPr lang="en-US" b="1">
                <a:solidFill>
                  <a:schemeClr val="bg1"/>
                </a:solidFill>
              </a:rPr>
              <a:pPr/>
              <a:t>3</a:t>
            </a:fld>
            <a:endParaRPr lang="en-US" b="1" dirty="0">
              <a:solidFill>
                <a:schemeClr val="bg1"/>
              </a:solidFill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>
              <a:defRPr/>
            </a:pPr>
            <a:r>
              <a:rPr lang="en-US">
                <a:solidFill>
                  <a:schemeClr val="bg1"/>
                </a:solidFill>
              </a:rPr>
              <a:t>@SIH Idea submission- Template</a:t>
            </a:r>
            <a:endParaRPr lang="en-US" dirty="0">
              <a:solidFill>
                <a:schemeClr val="bg1"/>
              </a:solidFill>
            </a:endParaRPr>
          </a:p>
        </p:txBody>
      </p:sp>
      <p:sp>
        <p:nvSpPr>
          <p:cNvPr id="11" name="Oval 10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WellDrop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pic>
        <p:nvPicPr>
          <p:cNvPr id="17410" name="Picture 17409" descr="pipelin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1170432"/>
            <a:ext cx="11384280" cy="2199674"/>
          </a:xfrm>
          <a:prstGeom prst="rect">
            <a:avLst/>
          </a:prstGeom>
        </p:spPr>
      </p:pic>
      <p:sp>
        <p:nvSpPr>
          <p:cNvPr id="17411" name="TextBox 17410"/>
          <p:cNvSpPr txBox="1"/>
          <p:nvPr/>
        </p:nvSpPr>
        <p:spPr>
          <a:xfrm>
            <a:off x="411480" y="3529584"/>
            <a:ext cx="5486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070C0"/>
                </a:solidFill>
                <a:latin typeface="Calibri"/>
              </a:rPr>
              <a:t>TECHNOLOGY STACK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3803904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b="1" sz="1000">
                <a:solidFill>
                  <a:srgbClr val="0070C0"/>
                </a:solidFill>
                <a:latin typeface="Calibri"/>
              </a:rPr>
              <a:t>Language &amp; UI — </a:t>
            </a:r>
            <a:r>
              <a:rPr b="0" sz="950">
                <a:solidFill>
                  <a:srgbClr val="10243B"/>
                </a:solidFill>
                <a:latin typeface="Calibri"/>
              </a:rPr>
              <a:t>Python 3.11 · PyQt6 desktop console · QThread workers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4206240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b="1" sz="1000">
                <a:solidFill>
                  <a:srgbClr val="0070C0"/>
                </a:solidFill>
                <a:latin typeface="Calibri"/>
              </a:rPr>
              <a:t>NLP — </a:t>
            </a:r>
            <a:r>
              <a:rPr b="0" sz="950">
                <a:solidFill>
                  <a:srgbClr val="10243B"/>
                </a:solidFill>
                <a:latin typeface="Calibri"/>
              </a:rPr>
              <a:t>sentence-transformers all-MiniLM-L6-v2 · rule + prototype knowledge base</a:t>
            </a:r>
          </a:p>
        </p:txBody>
      </p:sp>
      <p:sp>
        <p:nvSpPr>
          <p:cNvPr id="17414" name="TextBox 17413"/>
          <p:cNvSpPr txBox="1"/>
          <p:nvPr/>
        </p:nvSpPr>
        <p:spPr>
          <a:xfrm>
            <a:off x="411480" y="4608576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b="1" sz="1000">
                <a:solidFill>
                  <a:srgbClr val="0070C0"/>
                </a:solidFill>
                <a:latin typeface="Calibri"/>
              </a:rPr>
              <a:t>ML / MLOps — </a:t>
            </a:r>
            <a:r>
              <a:rPr b="0" sz="950">
                <a:solidFill>
                  <a:srgbClr val="10243B"/>
                </a:solidFill>
                <a:latin typeface="Calibri"/>
              </a:rPr>
              <a:t>XGBoost · scikit-learn · MLflow experiment tracking</a:t>
            </a:r>
          </a:p>
        </p:txBody>
      </p:sp>
      <p:sp>
        <p:nvSpPr>
          <p:cNvPr id="17415" name="TextBox 17414"/>
          <p:cNvSpPr txBox="1"/>
          <p:nvPr/>
        </p:nvSpPr>
        <p:spPr>
          <a:xfrm>
            <a:off x="411480" y="5010912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b="1" sz="1000">
                <a:solidFill>
                  <a:srgbClr val="0070C0"/>
                </a:solidFill>
                <a:latin typeface="Calibri"/>
              </a:rPr>
              <a:t>Ingestion — </a:t>
            </a:r>
            <a:r>
              <a:rPr b="0" sz="950">
                <a:solidFill>
                  <a:srgbClr val="10243B"/>
                </a:solidFill>
                <a:latin typeface="Calibri"/>
              </a:rPr>
              <a:t>PaddleOCR · pypdfium2 PDF text layer · CSV importer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11480" y="5413248"/>
            <a:ext cx="548640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b="1" sz="1000">
                <a:solidFill>
                  <a:srgbClr val="0070C0"/>
                </a:solidFill>
                <a:latin typeface="Calibri"/>
              </a:rPr>
              <a:t>Engineering — </a:t>
            </a:r>
            <a:r>
              <a:rPr b="0" sz="950">
                <a:solidFill>
                  <a:srgbClr val="10243B"/>
                </a:solidFill>
                <a:latin typeface="Calibri"/>
              </a:rPr>
              <a:t>NumPy · unittest (74 tests) · Git / GitHub</a:t>
            </a:r>
          </a:p>
        </p:txBody>
      </p:sp>
      <p:sp>
        <p:nvSpPr>
          <p:cNvPr id="17417" name="TextBox 17416"/>
          <p:cNvSpPr txBox="1"/>
          <p:nvPr/>
        </p:nvSpPr>
        <p:spPr>
          <a:xfrm>
            <a:off x="6263640" y="3529584"/>
            <a:ext cx="553212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070C0"/>
                </a:solidFill>
                <a:latin typeface="Calibri"/>
              </a:rPr>
              <a:t>METHODOLOGY</a:t>
            </a:r>
          </a:p>
        </p:txBody>
      </p:sp>
      <p:sp>
        <p:nvSpPr>
          <p:cNvPr id="17418" name="Rounded Rectangle 17417"/>
          <p:cNvSpPr/>
          <p:nvPr/>
        </p:nvSpPr>
        <p:spPr>
          <a:xfrm>
            <a:off x="6263640" y="3803904"/>
            <a:ext cx="5532120" cy="402336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9" name="Oval 17418"/>
          <p:cNvSpPr/>
          <p:nvPr/>
        </p:nvSpPr>
        <p:spPr>
          <a:xfrm>
            <a:off x="6373368" y="3886200"/>
            <a:ext cx="237744" cy="237744"/>
          </a:xfrm>
          <a:prstGeom prst="ellipse">
            <a:avLst/>
          </a:prstGeom>
          <a:solidFill>
            <a:srgbClr val="10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20" name="TextBox 17419"/>
          <p:cNvSpPr txBox="1"/>
          <p:nvPr/>
        </p:nvSpPr>
        <p:spPr>
          <a:xfrm>
            <a:off x="6720840" y="3849624"/>
            <a:ext cx="4965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b="1" sz="1050">
                <a:solidFill>
                  <a:srgbClr val="10243B"/>
                </a:solidFill>
                <a:latin typeface="Calibri"/>
              </a:rPr>
              <a:t>Rules first —  </a:t>
            </a:r>
            <a:r>
              <a:rPr b="0" sz="950">
                <a:solidFill>
                  <a:srgbClr val="5A6B7C"/>
                </a:solidFill>
                <a:latin typeface="Calibri"/>
              </a:rPr>
              <a:t>auditable deterministic backbone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6263640" y="4251960"/>
            <a:ext cx="5532120" cy="402336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2" name="Oval 17421"/>
          <p:cNvSpPr/>
          <p:nvPr/>
        </p:nvSpPr>
        <p:spPr>
          <a:xfrm>
            <a:off x="6373368" y="4334256"/>
            <a:ext cx="237744" cy="237744"/>
          </a:xfrm>
          <a:prstGeom prst="ellipse">
            <a:avLst/>
          </a:prstGeom>
          <a:solidFill>
            <a:srgbClr val="10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23" name="TextBox 17422"/>
          <p:cNvSpPr txBox="1"/>
          <p:nvPr/>
        </p:nvSpPr>
        <p:spPr>
          <a:xfrm>
            <a:off x="6720840" y="4297680"/>
            <a:ext cx="4965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b="1" sz="1050">
                <a:solidFill>
                  <a:srgbClr val="10243B"/>
                </a:solidFill>
                <a:latin typeface="Calibri"/>
              </a:rPr>
              <a:t>Semantics second —  </a:t>
            </a:r>
            <a:r>
              <a:rPr b="0" sz="950">
                <a:solidFill>
                  <a:srgbClr val="5A6B7C"/>
                </a:solidFill>
                <a:latin typeface="Calibri"/>
              </a:rPr>
              <a:t>zero-shot prototypes lift recall on paraphrase</a:t>
            </a:r>
          </a:p>
        </p:txBody>
      </p:sp>
      <p:sp>
        <p:nvSpPr>
          <p:cNvPr id="17424" name="Rounded Rectangle 17423"/>
          <p:cNvSpPr/>
          <p:nvPr/>
        </p:nvSpPr>
        <p:spPr>
          <a:xfrm>
            <a:off x="6263640" y="4700016"/>
            <a:ext cx="5532120" cy="402336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5" name="Oval 17424"/>
          <p:cNvSpPr/>
          <p:nvPr/>
        </p:nvSpPr>
        <p:spPr>
          <a:xfrm>
            <a:off x="6373368" y="4782312"/>
            <a:ext cx="237744" cy="237744"/>
          </a:xfrm>
          <a:prstGeom prst="ellipse">
            <a:avLst/>
          </a:prstGeom>
          <a:solidFill>
            <a:srgbClr val="10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6720840" y="4745736"/>
            <a:ext cx="4965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b="1" sz="1050">
                <a:solidFill>
                  <a:srgbClr val="10243B"/>
                </a:solidFill>
                <a:latin typeface="Calibri"/>
              </a:rPr>
              <a:t>Model third —  </a:t>
            </a:r>
            <a:r>
              <a:rPr b="0" sz="950">
                <a:solidFill>
                  <a:srgbClr val="5A6B7C"/>
                </a:solidFill>
                <a:latin typeface="Calibri"/>
              </a:rPr>
              <a:t>XGBoost opinion, MLflow-tracked, never an override</a:t>
            </a:r>
          </a:p>
        </p:txBody>
      </p:sp>
      <p:sp>
        <p:nvSpPr>
          <p:cNvPr id="17427" name="Rounded Rectangle 17426"/>
          <p:cNvSpPr/>
          <p:nvPr/>
        </p:nvSpPr>
        <p:spPr>
          <a:xfrm>
            <a:off x="6263640" y="5148072"/>
            <a:ext cx="5532120" cy="402336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8" name="Oval 17427"/>
          <p:cNvSpPr/>
          <p:nvPr/>
        </p:nvSpPr>
        <p:spPr>
          <a:xfrm>
            <a:off x="6373368" y="5230368"/>
            <a:ext cx="237744" cy="237744"/>
          </a:xfrm>
          <a:prstGeom prst="ellipse">
            <a:avLst/>
          </a:prstGeom>
          <a:solidFill>
            <a:srgbClr val="10243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29" name="TextBox 17428"/>
          <p:cNvSpPr txBox="1"/>
          <p:nvPr/>
        </p:nvSpPr>
        <p:spPr>
          <a:xfrm>
            <a:off x="6720840" y="5193792"/>
            <a:ext cx="496519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>
              <a:spcAft>
                <a:spcPts val="0"/>
              </a:spcAft>
            </a:pPr>
            <a:r>
              <a:rPr b="1" sz="1050">
                <a:solidFill>
                  <a:srgbClr val="10243B"/>
                </a:solidFill>
                <a:latin typeface="Calibri"/>
              </a:rPr>
              <a:t>Loop closed —  </a:t>
            </a:r>
            <a:r>
              <a:rPr b="0" sz="950">
                <a:solidFill>
                  <a:srgbClr val="5A6B7C"/>
                </a:solidFill>
                <a:latin typeface="Calibri"/>
              </a:rPr>
              <a:t>expert review produces the labels for retraining</a:t>
            </a:r>
          </a:p>
        </p:txBody>
      </p:sp>
      <p:sp>
        <p:nvSpPr>
          <p:cNvPr id="17430" name="Rounded Rectangle 17429"/>
          <p:cNvSpPr/>
          <p:nvPr/>
        </p:nvSpPr>
        <p:spPr>
          <a:xfrm>
            <a:off x="6263640" y="5596128"/>
            <a:ext cx="5532120" cy="56692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9525">
            <a:solidFill>
              <a:srgbClr val="BF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1" name="TextBox 17430"/>
          <p:cNvSpPr txBox="1"/>
          <p:nvPr/>
        </p:nvSpPr>
        <p:spPr>
          <a:xfrm>
            <a:off x="6409944" y="5669280"/>
            <a:ext cx="5239512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000" b="1">
                <a:solidFill>
                  <a:srgbClr val="1E9E5A"/>
                </a:solidFill>
                <a:latin typeface="Calibri"/>
              </a:rPr>
              <a:t>Guardrail: </a:t>
            </a:r>
            <a:r>
              <a:rPr sz="950">
                <a:solidFill>
                  <a:srgbClr val="10243B"/>
                </a:solidFill>
                <a:latin typeface="Calibri"/>
              </a:rPr>
              <a:t>if an encoder scores every prototype alike, its ranking is ignored and the rules decide — verified against a deliberately degenerate model.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FEASIBILITY AND VIABILITY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4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WellDrop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3977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1E9E5A"/>
                </a:solidFill>
                <a:latin typeface="Calibri"/>
              </a:rPr>
              <a:t>WHY IT IS FEASIBLE</a:t>
            </a:r>
          </a:p>
        </p:txBody>
      </p:sp>
      <p:sp>
        <p:nvSpPr>
          <p:cNvPr id="17411" name="TextBox 17410"/>
          <p:cNvSpPr txBox="1"/>
          <p:nvPr/>
        </p:nvSpPr>
        <p:spPr>
          <a:xfrm>
            <a:off x="411480" y="1444752"/>
            <a:ext cx="3977639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•  Laptop-class hardware — no GPU, no server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•  Offline mode needs no model and no network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•  Reads existing HSSE exports (CSV, PDF, scans) — crews keep reporting as they do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•  Open-source stack, deployed site by site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•  Already built and tested — 74 automated tests pass</a:t>
            </a:r>
          </a:p>
        </p:txBody>
      </p:sp>
      <p:sp>
        <p:nvSpPr>
          <p:cNvPr id="17412" name="TextBox 17411"/>
          <p:cNvSpPr txBox="1"/>
          <p:nvPr/>
        </p:nvSpPr>
        <p:spPr>
          <a:xfrm>
            <a:off x="411480" y="2926080"/>
            <a:ext cx="3977639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070C0"/>
                </a:solidFill>
                <a:latin typeface="Calibri"/>
              </a:rPr>
              <a:t>VIABILITY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411480" y="3182112"/>
            <a:ext cx="3977639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•  Low cost — open-source components, no per-seat licence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•  Return from HSE screening time saved and incidents prevented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•  One engine serves every asset; scales site by site</a:t>
            </a:r>
          </a:p>
          <a:p>
            <a:pPr>
              <a:spcAft>
                <a:spcPts val="50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•  Improves with use — each expert decision becomes a label</a:t>
            </a:r>
          </a:p>
          <a:p>
            <a:pPr>
              <a:spcAft>
                <a:spcPts val="0"/>
              </a:spcAft>
            </a:pPr>
            <a:r>
              <a:rPr sz="1000" b="0">
                <a:solidFill>
                  <a:srgbClr val="10243B"/>
                </a:solidFill>
                <a:latin typeface="Calibri"/>
              </a:rPr>
              <a:t>•  Supports OIL's statutory reporting rather than replacing it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4681728"/>
            <a:ext cx="3977639" cy="1481328"/>
          </a:xfrm>
          <a:prstGeom prst="roundRect">
            <a:avLst>
              <a:gd name="adj" fmla="val 6000"/>
            </a:avLst>
          </a:prstGeom>
          <a:solidFill>
            <a:srgbClr val="ECF3FA"/>
          </a:solidFill>
          <a:ln w="9525">
            <a:solidFill>
              <a:srgbClr val="C3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566928" y="4791456"/>
            <a:ext cx="3666744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1">
                <a:solidFill>
                  <a:srgbClr val="0070C0"/>
                </a:solidFill>
                <a:latin typeface="Calibri"/>
              </a:rPr>
              <a:t>WHAT A PILOT LOOKS LIKE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Week 0 — point it at one asset's existing report export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Weeks 1–8 — HSE works the review queue; decisions become labels</a:t>
            </a:r>
          </a:p>
          <a:p>
            <a:pPr>
              <a:spcAft>
                <a:spcPts val="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Week 9 — first model trained on real labels, promoted only at the recall gate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4709160" y="1188720"/>
            <a:ext cx="70866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E08A00"/>
                </a:solidFill>
                <a:latin typeface="Calibri"/>
              </a:rPr>
              <a:t>RISKS AND HOW WE HANDLE THEM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709160" y="1481328"/>
            <a:ext cx="7086600" cy="71323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8" name="Oval 17417"/>
          <p:cNvSpPr/>
          <p:nvPr/>
        </p:nvSpPr>
        <p:spPr>
          <a:xfrm>
            <a:off x="4837176" y="1719072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5184648" y="1563624"/>
            <a:ext cx="64648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10243B"/>
                </a:solidFill>
                <a:latin typeface="Calibri"/>
              </a:rPr>
              <a:t>No labelled SIF corpus exists</a:t>
            </a:r>
          </a:p>
          <a:p>
            <a:pPr>
              <a:spcAft>
                <a:spcPts val="0"/>
              </a:spcAft>
            </a:pPr>
            <a:r>
              <a:rPr sz="950">
                <a:solidFill>
                  <a:srgbClr val="5A6B7C"/>
                </a:solidFill>
                <a:latin typeface="Calibri"/>
              </a:rPr>
              <a:t>Start rule-driven; review queue produces labels; promote a model only at ≥200 labels and recall ≥0.80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709160" y="2263140"/>
            <a:ext cx="7086600" cy="71323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Oval 17420"/>
          <p:cNvSpPr/>
          <p:nvPr/>
        </p:nvSpPr>
        <p:spPr>
          <a:xfrm>
            <a:off x="4837176" y="2500884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5184648" y="2345436"/>
            <a:ext cx="64648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10243B"/>
                </a:solidFill>
                <a:latin typeface="Calibri"/>
              </a:rPr>
              <a:t>A missed precursor (false negative)</a:t>
            </a:r>
          </a:p>
          <a:p>
            <a:pPr>
              <a:spcAft>
                <a:spcPts val="0"/>
              </a:spcAft>
            </a:pPr>
            <a:r>
              <a:rPr sz="950">
                <a:solidFill>
                  <a:srgbClr val="5A6B7C"/>
                </a:solidFill>
                <a:latin typeface="Calibri"/>
              </a:rPr>
              <a:t>Semantic layer may only add flags; rules are never overridden; recall-first acceptance gate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709160" y="3044952"/>
            <a:ext cx="7086600" cy="71323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Oval 17423"/>
          <p:cNvSpPr/>
          <p:nvPr/>
        </p:nvSpPr>
        <p:spPr>
          <a:xfrm>
            <a:off x="4837176" y="3282696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5184648" y="3127248"/>
            <a:ext cx="64648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10243B"/>
                </a:solidFill>
                <a:latin typeface="Calibri"/>
              </a:rPr>
              <a:t>Plant networks are air-gapped</a:t>
            </a:r>
          </a:p>
          <a:p>
            <a:pPr>
              <a:spcAft>
                <a:spcPts val="0"/>
              </a:spcAft>
            </a:pPr>
            <a:r>
              <a:rPr sz="950">
                <a:solidFill>
                  <a:srgbClr val="5A6B7C"/>
                </a:solidFill>
                <a:latin typeface="Calibri"/>
              </a:rPr>
              <a:t>Pre-fetch the encoder and OCR models; full offline lexical mode as fallback</a:t>
            </a:r>
          </a:p>
        </p:txBody>
      </p:sp>
      <p:sp>
        <p:nvSpPr>
          <p:cNvPr id="17426" name="Rounded Rectangle 17425"/>
          <p:cNvSpPr/>
          <p:nvPr/>
        </p:nvSpPr>
        <p:spPr>
          <a:xfrm>
            <a:off x="4709160" y="3826764"/>
            <a:ext cx="7086600" cy="71323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7" name="Oval 17426"/>
          <p:cNvSpPr/>
          <p:nvPr/>
        </p:nvSpPr>
        <p:spPr>
          <a:xfrm>
            <a:off x="4837176" y="4064508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5184648" y="3909060"/>
            <a:ext cx="64648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10243B"/>
                </a:solidFill>
                <a:latin typeface="Calibri"/>
              </a:rPr>
              <a:t>Small samples skew site rankings</a:t>
            </a:r>
          </a:p>
          <a:p>
            <a:pPr>
              <a:spcAft>
                <a:spcPts val="0"/>
              </a:spcAft>
            </a:pPr>
            <a:r>
              <a:rPr sz="950">
                <a:solidFill>
                  <a:srgbClr val="5A6B7C"/>
                </a:solidFill>
                <a:latin typeface="Calibri"/>
              </a:rPr>
              <a:t>Density ranked by Wilson lower bound — 2-of-2 cannot outrank 20-of-30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4709160" y="4608576"/>
            <a:ext cx="7086600" cy="71323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0" name="Oval 17429"/>
          <p:cNvSpPr/>
          <p:nvPr/>
        </p:nvSpPr>
        <p:spPr>
          <a:xfrm>
            <a:off x="4837176" y="4846320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431" name="TextBox 17430"/>
          <p:cNvSpPr txBox="1"/>
          <p:nvPr/>
        </p:nvSpPr>
        <p:spPr>
          <a:xfrm>
            <a:off x="5184648" y="4690872"/>
            <a:ext cx="64648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10243B"/>
                </a:solidFill>
                <a:latin typeface="Calibri"/>
              </a:rPr>
              <a:t>Scanned and handwritten reports</a:t>
            </a:r>
          </a:p>
          <a:p>
            <a:pPr>
              <a:spcAft>
                <a:spcPts val="0"/>
              </a:spcAft>
            </a:pPr>
            <a:r>
              <a:rPr sz="950">
                <a:solidFill>
                  <a:srgbClr val="5A6B7C"/>
                </a:solidFill>
                <a:latin typeface="Calibri"/>
              </a:rPr>
              <a:t>PDF text layer first, PaddleOCR for scans, per-line confidence routed to review</a:t>
            </a:r>
          </a:p>
        </p:txBody>
      </p:sp>
      <p:sp>
        <p:nvSpPr>
          <p:cNvPr id="17432" name="Rounded Rectangle 17431"/>
          <p:cNvSpPr/>
          <p:nvPr/>
        </p:nvSpPr>
        <p:spPr>
          <a:xfrm>
            <a:off x="4709160" y="5390388"/>
            <a:ext cx="7086600" cy="71323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3" name="Oval 17432"/>
          <p:cNvSpPr/>
          <p:nvPr/>
        </p:nvSpPr>
        <p:spPr>
          <a:xfrm>
            <a:off x="4837176" y="5628132"/>
            <a:ext cx="237744" cy="237744"/>
          </a:xfrm>
          <a:prstGeom prst="ellipse">
            <a:avLst/>
          </a:prstGeom>
          <a:solidFill>
            <a:srgbClr val="E08A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17434" name="TextBox 17433"/>
          <p:cNvSpPr txBox="1"/>
          <p:nvPr/>
        </p:nvSpPr>
        <p:spPr>
          <a:xfrm>
            <a:off x="5184648" y="5472684"/>
            <a:ext cx="6464808" cy="566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10243B"/>
                </a:solidFill>
                <a:latin typeface="Calibri"/>
              </a:rPr>
              <a:t>Model drift after go-live</a:t>
            </a:r>
          </a:p>
          <a:p>
            <a:pPr>
              <a:spcAft>
                <a:spcPts val="0"/>
              </a:spcAft>
            </a:pPr>
            <a:r>
              <a:rPr sz="950">
                <a:solidFill>
                  <a:srgbClr val="5A6B7C"/>
                </a:solidFill>
                <a:latin typeface="Calibri"/>
              </a:rPr>
              <a:t>MLflow run history plus monitored KPIs: agreement %, unclassified share, queue age</a:t>
            </a:r>
          </a:p>
        </p:txBody>
      </p:sp>
    </p:spTree>
    <p:extLst>
      <p:ext uri="{BB962C8B-B14F-4D97-AF65-F5344CB8AC3E}">
        <p14:creationId xmlns:p14="http://schemas.microsoft.com/office/powerpoint/2010/main" val="375338791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IMPACT AND BENEFITS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5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12" name="Oval 11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WellDrop</a:t>
            </a:r>
            <a:endParaRPr lang="en-IN" dirty="0"/>
          </a:p>
        </p:txBody>
      </p:sp>
      <p:pic>
        <p:nvPicPr>
          <p:cNvPr id="11" name="Picture 10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Rounded Rectangle 17409"/>
          <p:cNvSpPr/>
          <p:nvPr/>
        </p:nvSpPr>
        <p:spPr>
          <a:xfrm>
            <a:off x="411480" y="1188720"/>
            <a:ext cx="2761488" cy="786384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1" name="TextBox 17410"/>
          <p:cNvSpPr txBox="1"/>
          <p:nvPr/>
        </p:nvSpPr>
        <p:spPr>
          <a:xfrm>
            <a:off x="557784" y="128016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700" b="1">
                <a:solidFill>
                  <a:srgbClr val="D7263D"/>
                </a:solidFill>
                <a:latin typeface="Calibri"/>
              </a:rPr>
              <a:t>Monthly</a:t>
            </a:r>
          </a:p>
          <a:p>
            <a:pPr>
              <a:spcAft>
                <a:spcPts val="0"/>
              </a:spcAft>
            </a:pPr>
            <a:r>
              <a:rPr sz="950" b="0">
                <a:solidFill>
                  <a:srgbClr val="5A6B7C"/>
                </a:solidFill>
                <a:latin typeface="Calibri"/>
              </a:rPr>
              <a:t>manual triage today</a:t>
            </a:r>
          </a:p>
        </p:txBody>
      </p:sp>
      <p:sp>
        <p:nvSpPr>
          <p:cNvPr id="17412" name="Rounded Rectangle 17411"/>
          <p:cNvSpPr/>
          <p:nvPr/>
        </p:nvSpPr>
        <p:spPr>
          <a:xfrm>
            <a:off x="3300984" y="1188720"/>
            <a:ext cx="2761488" cy="786384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3" name="TextBox 17412"/>
          <p:cNvSpPr txBox="1"/>
          <p:nvPr/>
        </p:nvSpPr>
        <p:spPr>
          <a:xfrm>
            <a:off x="3447288" y="128016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700" b="1">
                <a:solidFill>
                  <a:srgbClr val="1E9E5A"/>
                </a:solidFill>
                <a:latin typeface="Calibri"/>
              </a:rPr>
              <a:t>Same shift</a:t>
            </a:r>
          </a:p>
          <a:p>
            <a:pPr>
              <a:spcAft>
                <a:spcPts val="0"/>
              </a:spcAft>
            </a:pPr>
            <a:r>
              <a:rPr sz="950" b="0">
                <a:solidFill>
                  <a:srgbClr val="5A6B7C"/>
                </a:solidFill>
                <a:latin typeface="Calibri"/>
              </a:rPr>
              <a:t>with SENTRA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6190488" y="1188720"/>
            <a:ext cx="2761488" cy="786384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5" name="TextBox 17414"/>
          <p:cNvSpPr txBox="1"/>
          <p:nvPr/>
        </p:nvSpPr>
        <p:spPr>
          <a:xfrm>
            <a:off x="6336792" y="128016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700" b="1">
                <a:solidFill>
                  <a:srgbClr val="0070C0"/>
                </a:solidFill>
                <a:latin typeface="Calibri"/>
              </a:rPr>
              <a:t>20–25%</a:t>
            </a:r>
          </a:p>
          <a:p>
            <a:pPr>
              <a:spcAft>
                <a:spcPts val="0"/>
              </a:spcAft>
            </a:pPr>
            <a:r>
              <a:rPr sz="950" b="0">
                <a:solidFill>
                  <a:srgbClr val="5A6B7C"/>
                </a:solidFill>
                <a:latin typeface="Calibri"/>
              </a:rPr>
              <a:t>of reports hold the fatal potential</a:t>
            </a:r>
          </a:p>
        </p:txBody>
      </p:sp>
      <p:sp>
        <p:nvSpPr>
          <p:cNvPr id="17416" name="Rounded Rectangle 17415"/>
          <p:cNvSpPr/>
          <p:nvPr/>
        </p:nvSpPr>
        <p:spPr>
          <a:xfrm>
            <a:off x="9079992" y="1188720"/>
            <a:ext cx="2761488" cy="786384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7" name="TextBox 17416"/>
          <p:cNvSpPr txBox="1"/>
          <p:nvPr/>
        </p:nvSpPr>
        <p:spPr>
          <a:xfrm>
            <a:off x="9226296" y="1280160"/>
            <a:ext cx="24688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100"/>
              </a:spcAft>
            </a:pPr>
            <a:r>
              <a:rPr sz="1700" b="1">
                <a:solidFill>
                  <a:srgbClr val="10243B"/>
                </a:solidFill>
                <a:latin typeface="Calibri"/>
              </a:rPr>
              <a:t>Every flag</a:t>
            </a:r>
          </a:p>
          <a:p>
            <a:pPr>
              <a:spcAft>
                <a:spcPts val="0"/>
              </a:spcAft>
            </a:pPr>
            <a:r>
              <a:rPr sz="950" b="0">
                <a:solidFill>
                  <a:srgbClr val="5A6B7C"/>
                </a:solidFill>
                <a:latin typeface="Calibri"/>
              </a:rPr>
              <a:t>carries its evidence</a:t>
            </a:r>
          </a:p>
        </p:txBody>
      </p:sp>
      <p:sp>
        <p:nvSpPr>
          <p:cNvPr id="17418" name="TextBox 17417"/>
          <p:cNvSpPr txBox="1"/>
          <p:nvPr/>
        </p:nvSpPr>
        <p:spPr>
          <a:xfrm>
            <a:off x="411480" y="2176272"/>
            <a:ext cx="1138428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070C0"/>
                </a:solidFill>
                <a:latin typeface="Calibri"/>
              </a:rPr>
              <a:t>WHO BENEFITS, AND HOW</a:t>
            </a:r>
          </a:p>
        </p:txBody>
      </p:sp>
      <p:sp>
        <p:nvSpPr>
          <p:cNvPr id="17419" name="Rounded Rectangle 17418"/>
          <p:cNvSpPr/>
          <p:nvPr/>
        </p:nvSpPr>
        <p:spPr>
          <a:xfrm>
            <a:off x="411480" y="2487168"/>
            <a:ext cx="3703320" cy="181051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0" name="TextBox 17419"/>
          <p:cNvSpPr txBox="1"/>
          <p:nvPr/>
        </p:nvSpPr>
        <p:spPr>
          <a:xfrm>
            <a:off x="576072" y="2615184"/>
            <a:ext cx="33832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0070C0"/>
                </a:solidFill>
                <a:latin typeface="Calibri"/>
              </a:rPr>
              <a:t>HSE teams &amp; asset owners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10243B"/>
                </a:solidFill>
                <a:latin typeface="Calibri"/>
              </a:rPr>
              <a:t>•  Screening effort moves from every report to the ones that can kill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10243B"/>
                </a:solidFill>
                <a:latin typeface="Calibri"/>
              </a:rPr>
              <a:t>•  Sites and activities ranked by precursor density, not by report volume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10243B"/>
                </a:solidFill>
                <a:latin typeface="Calibri"/>
              </a:rPr>
              <a:t>•  Recurring failed barriers named — fix the control, not the incident</a:t>
            </a:r>
          </a:p>
        </p:txBody>
      </p:sp>
      <p:sp>
        <p:nvSpPr>
          <p:cNvPr id="17421" name="Rounded Rectangle 17420"/>
          <p:cNvSpPr/>
          <p:nvPr/>
        </p:nvSpPr>
        <p:spPr>
          <a:xfrm>
            <a:off x="4288536" y="2487168"/>
            <a:ext cx="3703320" cy="181051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2" name="TextBox 17421"/>
          <p:cNvSpPr txBox="1"/>
          <p:nvPr/>
        </p:nvSpPr>
        <p:spPr>
          <a:xfrm>
            <a:off x="4453128" y="2615184"/>
            <a:ext cx="33832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1E9E5A"/>
                </a:solidFill>
                <a:latin typeface="Calibri"/>
              </a:rPr>
              <a:t>Workers &amp; contractors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10243B"/>
                </a:solidFill>
                <a:latin typeface="Calibri"/>
              </a:rPr>
              <a:t>•  Exposure removed before the event, not investigated after it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10243B"/>
                </a:solidFill>
                <a:latin typeface="Calibri"/>
              </a:rPr>
              <a:t>•  Reporting visibly acted on, which strengthens reporting culture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10243B"/>
                </a:solidFill>
                <a:latin typeface="Calibri"/>
              </a:rPr>
              <a:t>•  Same protection for contractor crews, who carry much of the field risk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8165592" y="2487168"/>
            <a:ext cx="3703320" cy="1810512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8330183" y="2615184"/>
            <a:ext cx="3383280" cy="1920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100" b="1">
                <a:solidFill>
                  <a:srgbClr val="E08A00"/>
                </a:solidFill>
                <a:latin typeface="Calibri"/>
              </a:rPr>
              <a:t>Economic, social &amp; environmental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10243B"/>
                </a:solidFill>
                <a:latin typeface="Calibri"/>
              </a:rPr>
              <a:t>•  Avoided incident cost, downtime and emergency response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10243B"/>
                </a:solidFill>
                <a:latin typeface="Calibri"/>
              </a:rPr>
              <a:t>•  Audit-ready evidence trail for regulators and internal review</a:t>
            </a:r>
          </a:p>
          <a:p>
            <a:pPr>
              <a:spcAft>
                <a:spcPts val="500"/>
              </a:spcAft>
            </a:pPr>
            <a:r>
              <a:rPr sz="950">
                <a:solidFill>
                  <a:srgbClr val="10243B"/>
                </a:solidFill>
                <a:latin typeface="Calibri"/>
              </a:rPr>
              <a:t>•  Paperless triage; less duplicated manual review each cycle</a:t>
            </a:r>
          </a:p>
        </p:txBody>
      </p:sp>
      <p:pic>
        <p:nvPicPr>
          <p:cNvPr id="17425" name="Picture 17424" descr="review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11480" y="4462272"/>
            <a:ext cx="5760720" cy="1709412"/>
          </a:xfrm>
          <a:prstGeom prst="rect">
            <a:avLst/>
          </a:prstGeom>
        </p:spPr>
      </p:pic>
      <p:sp>
        <p:nvSpPr>
          <p:cNvPr id="17426" name="TextBox 17425"/>
          <p:cNvSpPr txBox="1"/>
          <p:nvPr/>
        </p:nvSpPr>
        <p:spPr>
          <a:xfrm>
            <a:off x="6446520" y="4517136"/>
            <a:ext cx="5349240" cy="1463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600"/>
              </a:spcAft>
            </a:pPr>
            <a:r>
              <a:rPr sz="1050" b="1">
                <a:solidFill>
                  <a:srgbClr val="10243B"/>
                </a:solidFill>
                <a:latin typeface="Calibri"/>
              </a:rPr>
              <a:t>THE HUMAN STAYS IN CHARGE</a:t>
            </a:r>
          </a:p>
          <a:p>
            <a:pPr>
              <a:spcAft>
                <a:spcPts val="6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Disagreements, critical risk and thin evidence are queued with the reason attached. No report is closed, downgraded or escalated by the engine.</a:t>
            </a:r>
          </a:p>
          <a:p>
            <a:pPr>
              <a:spcAft>
                <a:spcPts val="0"/>
              </a:spcAft>
            </a:pPr>
            <a:r>
              <a:rPr sz="950" b="1">
                <a:solidFill>
                  <a:srgbClr val="1E9E5A"/>
                </a:solidFill>
                <a:latin typeface="Calibri"/>
              </a:rPr>
              <a:t>Each expert decision returns as a training label.</a:t>
            </a:r>
          </a:p>
        </p:txBody>
      </p:sp>
    </p:spTree>
    <p:extLst>
      <p:ext uri="{BB962C8B-B14F-4D97-AF65-F5344CB8AC3E}">
        <p14:creationId xmlns:p14="http://schemas.microsoft.com/office/powerpoint/2010/main" val="299714414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Rectangle 9">
            <a:extLst>
              <a:ext uri="{FF2B5EF4-FFF2-40B4-BE49-F238E27FC236}">
                <a16:creationId xmlns:a16="http://schemas.microsoft.com/office/drawing/2014/main" id="{AD4F69D3-EEB0-4C4C-9434-B9960FB5854C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6354762"/>
            <a:ext cx="12191999" cy="503238"/>
          </a:xfrm>
          <a:prstGeom prst="rect">
            <a:avLst/>
          </a:prstGeom>
          <a:solidFill>
            <a:srgbClr val="0070C0"/>
          </a:solidFill>
          <a:ln w="9525">
            <a:noFill/>
            <a:miter lim="800000"/>
            <a:headEnd/>
            <a:tailEnd/>
          </a:ln>
          <a:effectLst>
            <a:outerShdw dist="23000" dir="5400000" rotWithShape="0">
              <a:srgbClr val="808080">
                <a:alpha val="34999"/>
              </a:srgbClr>
            </a:outerShdw>
          </a:effectLst>
        </p:spPr>
        <p:txBody>
          <a:bodyPr anchor="ctr"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srgbClr val="C0504D">
                  <a:lumMod val="75000"/>
                </a:srgbClr>
              </a:solidFill>
              <a:effectLst/>
              <a:uLnTx/>
              <a:uFillTx/>
              <a:latin typeface="Calibri"/>
              <a:ea typeface="ＭＳ Ｐゴシック" pitchFamily="1" charset="-128"/>
              <a:cs typeface="+mn-cs"/>
            </a:endParaRPr>
          </a:p>
        </p:txBody>
      </p:sp>
      <p:sp>
        <p:nvSpPr>
          <p:cNvPr id="17409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eaLnBrk="1" hangingPunct="1"/>
            <a:r>
              <a:rPr lang="en-US" sz="3600" b="1" dirty="0">
                <a:latin typeface="Times New Roman" panose="02020603050405020304" pitchFamily="18" charset="0"/>
                <a:ea typeface="ＭＳ Ｐゴシック" pitchFamily="1" charset="-128"/>
                <a:cs typeface="Times New Roman" panose="02020603050405020304" pitchFamily="18" charset="0"/>
              </a:rPr>
              <a:t>RESEARCH  AND REFERENCES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base" latinLnBrk="0" hangingPunct="1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None/>
              <a:tabLst/>
              <a:defRPr/>
            </a:pPr>
            <a:fld id="{677C3CE7-23F7-4828-823C-E0205DF2CF97}" type="slidenum">
              <a:rPr kumimoji="0" lang="en-US" sz="1200" b="1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 pitchFamily="1" charset="0"/>
                <a:ea typeface="ＭＳ Ｐゴシック" pitchFamily="1" charset="-128"/>
                <a:cs typeface="+mn-cs"/>
              </a:rPr>
              <a:pPr marL="0" marR="0" lvl="0" indent="0" algn="r" defTabSz="457200" rtl="0" eaLnBrk="1" fontAlgn="base" latinLnBrk="0" hangingPunct="1">
                <a:lnSpc>
                  <a:spcPct val="100000"/>
                </a:lnSpc>
                <a:spcBef>
                  <a:spcPct val="0"/>
                </a:spcBef>
                <a:spcAft>
                  <a:spcPct val="0"/>
                </a:spcAft>
                <a:buClrTx/>
                <a:buSzTx/>
                <a:buFontTx/>
                <a:buNone/>
                <a:tabLst/>
                <a:defRPr/>
              </a:pPr>
              <a:t>6</a:t>
            </a:fld>
            <a:endParaRPr kumimoji="0" lang="en-US" sz="1200" b="1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 pitchFamily="1" charset="0"/>
              <a:ea typeface="ＭＳ Ｐゴシック" pitchFamily="1" charset="-128"/>
              <a:cs typeface="+mn-cs"/>
            </a:endParaRPr>
          </a:p>
        </p:txBody>
      </p:sp>
      <p:sp>
        <p:nvSpPr>
          <p:cNvPr id="7" name="Footer Placeholder 6"/>
          <p:cNvSpPr>
            <a:spLocks noGrp="1"/>
          </p:cNvSpPr>
          <p:nvPr>
            <p:ph type="ftr" sz="quarter" idx="11"/>
          </p:nvPr>
        </p:nvSpPr>
        <p:spPr>
          <a:xfrm>
            <a:off x="4648200" y="6356353"/>
            <a:ext cx="3204000" cy="365125"/>
          </a:xfrm>
        </p:spPr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prstClr val="white"/>
                </a:solidFill>
                <a:effectLst/>
                <a:uLnTx/>
                <a:uFillTx/>
                <a:latin typeface="TradeGothic"/>
                <a:ea typeface="+mn-ea"/>
                <a:cs typeface="+mn-cs"/>
              </a:rPr>
              <a:t>@SIH Idea submission- Template</a:t>
            </a: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TradeGothic"/>
              <a:ea typeface="+mn-ea"/>
              <a:cs typeface="+mn-cs"/>
            </a:endParaRPr>
          </a:p>
        </p:txBody>
      </p:sp>
      <p:sp>
        <p:nvSpPr>
          <p:cNvPr id="9" name="Oval 8" descr="Your startup LOGO">
            <a:extLst>
              <a:ext uri="{FF2B5EF4-FFF2-40B4-BE49-F238E27FC236}">
                <a16:creationId xmlns:a16="http://schemas.microsoft.com/office/drawing/2014/main" id="{5DBCE864-823D-4A13-9607-5DA1F0ED5FB8}"/>
              </a:ext>
              <a:ext uri="{C183D7F6-B498-43B3-948B-1728B52AA6E4}">
                <adec:decorative xmlns:adec="http://schemas.microsoft.com/office/drawing/2017/decorative" xmlns="" val="0"/>
              </a:ext>
            </a:extLst>
          </p:cNvPr>
          <p:cNvSpPr/>
          <p:nvPr/>
        </p:nvSpPr>
        <p:spPr>
          <a:xfrm>
            <a:off x="329773" y="252246"/>
            <a:ext cx="1251857" cy="807334"/>
          </a:xfrm>
          <a:prstGeom prst="ellipse">
            <a:avLst/>
          </a:prstGeom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r>
              <a:rPr lang="en-US" dirty="0" sz="1100" b="1"/>
              <a:t>WellDrop</a:t>
            </a:r>
            <a:endParaRPr lang="en-IN" dirty="0"/>
          </a:p>
        </p:txBody>
      </p:sp>
      <p:pic>
        <p:nvPicPr>
          <p:cNvPr id="12" name="Picture 11"/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780086" y="1500"/>
            <a:ext cx="2249850" cy="1062337"/>
          </a:xfrm>
          <a:prstGeom prst="rect">
            <a:avLst/>
          </a:prstGeom>
        </p:spPr>
      </p:pic>
      <p:sp>
        <p:nvSpPr>
          <p:cNvPr id="17410" name="TextBox 17409"/>
          <p:cNvSpPr txBox="1"/>
          <p:nvPr/>
        </p:nvSpPr>
        <p:spPr>
          <a:xfrm>
            <a:off x="411480" y="1188720"/>
            <a:ext cx="676656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070C0"/>
                </a:solidFill>
                <a:latin typeface="Calibri"/>
              </a:rPr>
              <a:t>PEER-REVIEWED RESEARCH</a:t>
            </a:r>
          </a:p>
        </p:txBody>
      </p:sp>
      <p:sp>
        <p:nvSpPr>
          <p:cNvPr id="17411" name="Rounded Rectangle 17410"/>
          <p:cNvSpPr/>
          <p:nvPr/>
        </p:nvSpPr>
        <p:spPr>
          <a:xfrm>
            <a:off x="411480" y="1444752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2" name="Oval 17411"/>
          <p:cNvSpPr/>
          <p:nvPr/>
        </p:nvSpPr>
        <p:spPr>
          <a:xfrm>
            <a:off x="539496" y="1719072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17413" name="TextBox 17412"/>
          <p:cNvSpPr txBox="1"/>
          <p:nvPr/>
        </p:nvSpPr>
        <p:spPr>
          <a:xfrm>
            <a:off x="886968" y="1545336"/>
            <a:ext cx="6126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10243B"/>
                </a:solidFill>
                <a:latin typeface="Calibri"/>
              </a:rPr>
              <a:t>Parikh et al. (2024), Scientific Reports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5A6B7C"/>
                </a:solidFill>
                <a:latin typeface="Calibri"/>
              </a:rPr>
              <a:t>Automatic identification of incidents involving potential serious injuries and fatalities — Transformer + XGBoost, recall-first.  nature.com/articles/s41598-024-58824-y</a:t>
            </a:r>
          </a:p>
        </p:txBody>
      </p:sp>
      <p:sp>
        <p:nvSpPr>
          <p:cNvPr id="17414" name="Rounded Rectangle 17413"/>
          <p:cNvSpPr/>
          <p:nvPr/>
        </p:nvSpPr>
        <p:spPr>
          <a:xfrm>
            <a:off x="411480" y="2304288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5" name="Oval 17414"/>
          <p:cNvSpPr/>
          <p:nvPr/>
        </p:nvSpPr>
        <p:spPr>
          <a:xfrm>
            <a:off x="539496" y="2578608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7416" name="TextBox 17415"/>
          <p:cNvSpPr txBox="1"/>
          <p:nvPr/>
        </p:nvSpPr>
        <p:spPr>
          <a:xfrm>
            <a:off x="886968" y="2404872"/>
            <a:ext cx="6126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10243B"/>
                </a:solidFill>
                <a:latin typeface="Calibri"/>
              </a:rPr>
              <a:t>Ganguli et al. (2021), Minerals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5A6B7C"/>
                </a:solidFill>
                <a:latin typeface="Calibri"/>
              </a:rPr>
              <a:t>NLP-based machine learning on mine incident narratives.  mdpi.com/2075-163X/11/7/776</a:t>
            </a:r>
          </a:p>
        </p:txBody>
      </p:sp>
      <p:sp>
        <p:nvSpPr>
          <p:cNvPr id="17417" name="Rounded Rectangle 17416"/>
          <p:cNvSpPr/>
          <p:nvPr/>
        </p:nvSpPr>
        <p:spPr>
          <a:xfrm>
            <a:off x="411480" y="3163824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18" name="Oval 17417"/>
          <p:cNvSpPr/>
          <p:nvPr/>
        </p:nvSpPr>
        <p:spPr>
          <a:xfrm>
            <a:off x="539496" y="3438144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7419" name="TextBox 17418"/>
          <p:cNvSpPr txBox="1"/>
          <p:nvPr/>
        </p:nvSpPr>
        <p:spPr>
          <a:xfrm>
            <a:off x="886968" y="3264408"/>
            <a:ext cx="6126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10243B"/>
                </a:solidFill>
                <a:latin typeface="Calibri"/>
              </a:rPr>
              <a:t>Chang &amp; Martinez (2024), Process Safety and Environmental Protection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5A6B7C"/>
                </a:solidFill>
                <a:latin typeface="Calibri"/>
              </a:rPr>
              <a:t>NLP for spill reduction in an E&amp;P company — causes and contributing factors.</a:t>
            </a:r>
          </a:p>
        </p:txBody>
      </p:sp>
      <p:sp>
        <p:nvSpPr>
          <p:cNvPr id="17420" name="Rounded Rectangle 17419"/>
          <p:cNvSpPr/>
          <p:nvPr/>
        </p:nvSpPr>
        <p:spPr>
          <a:xfrm>
            <a:off x="411480" y="4023360"/>
            <a:ext cx="6766560" cy="786384"/>
          </a:xfrm>
          <a:prstGeom prst="roundRect">
            <a:avLst>
              <a:gd name="adj" fmla="val 6000"/>
            </a:avLst>
          </a:prstGeom>
          <a:solidFill>
            <a:srgbClr val="F2F6FA"/>
          </a:solidFill>
          <a:ln w="9525">
            <a:solidFill>
              <a:srgbClr val="D5E2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1" name="Oval 17420"/>
          <p:cNvSpPr/>
          <p:nvPr/>
        </p:nvSpPr>
        <p:spPr>
          <a:xfrm>
            <a:off x="539496" y="4297680"/>
            <a:ext cx="237744" cy="237744"/>
          </a:xfrm>
          <a:prstGeom prst="ellipse">
            <a:avLst/>
          </a:prstGeom>
          <a:solidFill>
            <a:srgbClr val="007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0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7422" name="TextBox 17421"/>
          <p:cNvSpPr txBox="1"/>
          <p:nvPr/>
        </p:nvSpPr>
        <p:spPr>
          <a:xfrm>
            <a:off x="886968" y="4123944"/>
            <a:ext cx="61264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200"/>
              </a:spcAft>
            </a:pPr>
            <a:r>
              <a:rPr sz="1000" b="1">
                <a:solidFill>
                  <a:srgbClr val="10243B"/>
                </a:solidFill>
                <a:latin typeface="Calibri"/>
              </a:rPr>
              <a:t>Wang &amp; Wang (2026), J. Loss Prevention in the Process Industries</a:t>
            </a:r>
          </a:p>
          <a:p>
            <a:pPr>
              <a:spcAft>
                <a:spcPts val="0"/>
              </a:spcAft>
            </a:pPr>
            <a:r>
              <a:rPr sz="900">
                <a:solidFill>
                  <a:srgbClr val="5A6B7C"/>
                </a:solidFill>
                <a:latin typeface="Calibri"/>
              </a:rPr>
              <a:t>Bow-tie grounded sentence-level annotation for interpretable incident analysis.</a:t>
            </a:r>
          </a:p>
        </p:txBody>
      </p:sp>
      <p:sp>
        <p:nvSpPr>
          <p:cNvPr id="17423" name="Rounded Rectangle 17422"/>
          <p:cNvSpPr/>
          <p:nvPr/>
        </p:nvSpPr>
        <p:spPr>
          <a:xfrm>
            <a:off x="411480" y="4846320"/>
            <a:ext cx="6766560" cy="1298448"/>
          </a:xfrm>
          <a:prstGeom prst="roundRect">
            <a:avLst>
              <a:gd name="adj" fmla="val 6000"/>
            </a:avLst>
          </a:prstGeom>
          <a:solidFill>
            <a:srgbClr val="ECF7F1"/>
          </a:solidFill>
          <a:ln w="9525">
            <a:solidFill>
              <a:srgbClr val="BFE4D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24" name="TextBox 17423"/>
          <p:cNvSpPr txBox="1"/>
          <p:nvPr/>
        </p:nvSpPr>
        <p:spPr>
          <a:xfrm>
            <a:off x="566928" y="4956048"/>
            <a:ext cx="6455664" cy="1097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1000" b="1">
                <a:solidFill>
                  <a:srgbClr val="1E9E5A"/>
                </a:solidFill>
                <a:latin typeface="Calibri"/>
              </a:rPr>
              <a:t>HOW THE RESEARCH SHAPED SENTRA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[1] recall-first evaluation and the transformer + XGBoost pairing</a:t>
            </a:r>
          </a:p>
          <a:p>
            <a:pPr>
              <a:spcAft>
                <a:spcPts val="4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[2][3] evidence that NLP generalises across mining and E&amp;P narratives</a:t>
            </a:r>
          </a:p>
          <a:p>
            <a:pPr>
              <a:spcAft>
                <a:spcPts val="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[4] barrier-level annotation — why we classify on energy and barrier, not keywords</a:t>
            </a:r>
          </a:p>
        </p:txBody>
      </p:sp>
      <p:sp>
        <p:nvSpPr>
          <p:cNvPr id="17425" name="TextBox 17424"/>
          <p:cNvSpPr txBox="1"/>
          <p:nvPr/>
        </p:nvSpPr>
        <p:spPr>
          <a:xfrm>
            <a:off x="7452360" y="1188720"/>
            <a:ext cx="4343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070C0"/>
                </a:solidFill>
                <a:latin typeface="Calibri"/>
              </a:rPr>
              <a:t>STANDARDS &amp; INDUSTRY MODELS</a:t>
            </a:r>
          </a:p>
        </p:txBody>
      </p:sp>
      <p:sp>
        <p:nvSpPr>
          <p:cNvPr id="17426" name="TextBox 17425"/>
          <p:cNvSpPr txBox="1"/>
          <p:nvPr/>
        </p:nvSpPr>
        <p:spPr>
          <a:xfrm>
            <a:off x="7452360" y="1444752"/>
            <a:ext cx="4343400" cy="1371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•  IOGP Life-Saving Rules (2018) — the 9-rule taxonomy we map to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•  EEI SIF precursor model — energy + failed barrier logic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•  DEKRA, Martin &amp; Black (2015) — SIF potential vs actual severity</a:t>
            </a:r>
          </a:p>
          <a:p>
            <a:pPr>
              <a:spcAft>
                <a:spcPts val="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•  VelocityEHS PSIF classifier (2024) — commercial benchmark</a:t>
            </a:r>
          </a:p>
        </p:txBody>
      </p:sp>
      <p:sp>
        <p:nvSpPr>
          <p:cNvPr id="17427" name="TextBox 17426"/>
          <p:cNvSpPr txBox="1"/>
          <p:nvPr/>
        </p:nvSpPr>
        <p:spPr>
          <a:xfrm>
            <a:off x="7452360" y="2788920"/>
            <a:ext cx="4343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0"/>
              </a:spcAft>
            </a:pPr>
            <a:r>
              <a:rPr sz="1100" b="1">
                <a:solidFill>
                  <a:srgbClr val="0070C0"/>
                </a:solidFill>
                <a:latin typeface="Calibri"/>
              </a:rPr>
              <a:t>HOW WE DIFFER FROM EXISTING TOOLS</a:t>
            </a:r>
          </a:p>
        </p:txBody>
      </p:sp>
      <p:sp>
        <p:nvSpPr>
          <p:cNvPr id="17428" name="TextBox 17427"/>
          <p:cNvSpPr txBox="1"/>
          <p:nvPr/>
        </p:nvSpPr>
        <p:spPr>
          <a:xfrm>
            <a:off x="7452360" y="3044952"/>
            <a:ext cx="4343400" cy="1828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5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•  Commercial PSIF tools need a large labelled corpus; SENTRA starts with none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•  Most classifiers output a score; SENTRA outputs the cues and the decision path</a:t>
            </a:r>
          </a:p>
          <a:p>
            <a:pPr>
              <a:spcAft>
                <a:spcPts val="50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•  Built for the plant — full offline mode, no cloud dependency</a:t>
            </a:r>
          </a:p>
          <a:p>
            <a:pPr>
              <a:spcAft>
                <a:spcPts val="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•  Ranks by precursor density, so a small busy site is not hidden by a large one</a:t>
            </a:r>
          </a:p>
        </p:txBody>
      </p:sp>
      <p:sp>
        <p:nvSpPr>
          <p:cNvPr id="17429" name="Rounded Rectangle 17428"/>
          <p:cNvSpPr/>
          <p:nvPr/>
        </p:nvSpPr>
        <p:spPr>
          <a:xfrm>
            <a:off x="7452360" y="5074920"/>
            <a:ext cx="4343400" cy="868680"/>
          </a:xfrm>
          <a:prstGeom prst="roundRect">
            <a:avLst>
              <a:gd name="adj" fmla="val 6000"/>
            </a:avLst>
          </a:prstGeom>
          <a:solidFill>
            <a:srgbClr val="ECF3FA"/>
          </a:solidFill>
          <a:ln w="9525">
            <a:solidFill>
              <a:srgbClr val="C3DC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7430" name="TextBox 17429"/>
          <p:cNvSpPr txBox="1"/>
          <p:nvPr/>
        </p:nvSpPr>
        <p:spPr>
          <a:xfrm>
            <a:off x="7616952" y="5193792"/>
            <a:ext cx="4014215" cy="685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>
              <a:spcAft>
                <a:spcPts val="400"/>
              </a:spcAft>
            </a:pPr>
            <a:r>
              <a:rPr sz="1000" b="1">
                <a:solidFill>
                  <a:srgbClr val="0070C0"/>
                </a:solidFill>
                <a:latin typeface="Calibri"/>
              </a:rPr>
              <a:t>PROTOTYPE SOURCE</a:t>
            </a:r>
          </a:p>
          <a:p>
            <a:pPr>
              <a:spcAft>
                <a:spcPts val="0"/>
              </a:spcAft>
            </a:pPr>
            <a:r>
              <a:rPr sz="950" b="0">
                <a:solidFill>
                  <a:srgbClr val="10243B"/>
                </a:solidFill>
                <a:latin typeface="Calibri"/>
              </a:rPr>
              <a:t>github.com/tedo001/SIF — working code, 74 automated tests, operating manual</a:t>
            </a:r>
          </a:p>
        </p:txBody>
      </p:sp>
    </p:spTree>
    <p:extLst>
      <p:ext uri="{BB962C8B-B14F-4D97-AF65-F5344CB8AC3E}">
        <p14:creationId xmlns:p14="http://schemas.microsoft.com/office/powerpoint/2010/main" val="391678861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7489</TotalTime>
  <Words>325</Words>
  <Application>Microsoft Office PowerPoint</Application>
  <PresentationFormat>Widescreen</PresentationFormat>
  <Paragraphs>62</Paragraphs>
  <Slides>7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5" baseType="lpstr">
      <vt:lpstr>ＭＳ Ｐゴシック</vt:lpstr>
      <vt:lpstr>Arial</vt:lpstr>
      <vt:lpstr>Calibri</vt:lpstr>
      <vt:lpstr>Garamond</vt:lpstr>
      <vt:lpstr>Times New Roman</vt:lpstr>
      <vt:lpstr>TradeGothic</vt:lpstr>
      <vt:lpstr>Wingdings</vt:lpstr>
      <vt:lpstr>Office Theme</vt:lpstr>
      <vt:lpstr>SMART INDIA HACKATHON 2026</vt:lpstr>
      <vt:lpstr> IDEA TITLE</vt:lpstr>
      <vt:lpstr>TECHNICAL APPROACH</vt:lpstr>
      <vt:lpstr>FEASIBILITY AND VIABILITY</vt:lpstr>
      <vt:lpstr>IMPACT AND BENEFITS</vt:lpstr>
      <vt:lpstr>RESEARCH  AND REFERENCES</vt:lpstr>
      <vt:lpstr>PowerPoint Presentation</vt:lpstr>
    </vt:vector>
  </TitlesOfParts>
  <Manager/>
  <Company>Crowdfunder, Inc.</Company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Investor Pitch Deck Template</dc:title>
  <dc:subject/>
  <dc:creator>Crowdfunder</dc:creator>
  <cp:keywords/>
  <dc:description/>
  <cp:lastModifiedBy>AICTE</cp:lastModifiedBy>
  <cp:revision>148</cp:revision>
  <dcterms:created xsi:type="dcterms:W3CDTF">2013-12-12T18:46:50Z</dcterms:created>
  <dcterms:modified xsi:type="dcterms:W3CDTF">2026-06-02T09:29:39Z</dcterms:modified>
  <cp:category/>
</cp:coreProperties>
</file>